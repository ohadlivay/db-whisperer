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Assistant SemiBold"/>
      <p:regular r:id="rId24"/>
      <p:bold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Assistant"/>
      <p:bold r:id="rId30"/>
    </p:embeddedFont>
    <p:embeddedFont>
      <p:font typeface="Inter ExtraBold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ssistantSemiBold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AssistantSemiBold-bold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.fntdata"/><Relationship Id="rId30" Type="http://schemas.openxmlformats.org/officeDocument/2006/relationships/font" Target="fonts/Assistan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b9fa645a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b9fa645a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הרעיון הכללי: להפוך קוד לגרף ולתת לסוכן למשוך קוד מהגרף לצורך פעולות SWE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bec0970b2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bec0970b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b9fa645ac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b9fa645ac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תמיכה בcode completion, ב-debugging, בהבנת מבנה קוד ומשימות קוד מורכבות ומגוונות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b9fa645ac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b9fa645ac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c3c5e34e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c3c5e34e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החלטה על הסכמה - מה יהיה NODE ומה יהיה EDGE. שאלה של GRANULARITY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אין שימוש ב-LLM ברכיב זה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b9fa645ac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b9fa645ac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CrossCodeEval - code completion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SWE-bench - github issue resolution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EvoCodeBench - repo-level code gen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bec0970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bec0970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החסרת הסוכן המתרגם פוגעת נואשות בביצועים!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רעיון שימושי לעוד המון LLM-based flows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bec0970b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bec0970b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טרייד-אופ בין כמות לאיכות, precision vs recall. ההחלטה מבוססת על אופי המשימה.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bec0970b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bec0970b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bec0970b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bec0970b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bec0970b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bec0970b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bec0970b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bec0970b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bec0970b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bec0970b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שיקולים: זמן ריצה, קוד מתעדכן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bec0970b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bec0970b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הכוונה בעזרת API היא סוג של scaffolding - מקלה על מודלים. הקלה על מודלים -&gt; אפשרות לשימוש במודל זול יותר.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זמן פיתוח של יצירת פונקציות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bec0970b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bec0970b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שיקולים:</a:t>
            </a:r>
            <a:br>
              <a:rPr lang="en"/>
            </a:br>
            <a:r>
              <a:rPr lang="en"/>
              <a:t>זמן ריצה, הזיות, מציאת קשרים חבויים (לוגיים או טמפורליים), הכללה לשפות מרובות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bec0970b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bec0970b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תלוי במורכבות וגודל הריפו. שיקולי FP VS FN.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bec0970b2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bec0970b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א. מודל לוקלי משתלם רק החל מהיקף שימוש גבוה או כשהמשימה מאוד קלה. שיקולי אבטחה ופרטיות.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ב. בנצ'מרקים פומביים, lmarena, ניסיון וטעייה, בניית בנצ'מרק פרטי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ג. זמן לפתרון באג, פידבאק, כמות באגים בקוד שיוצר…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bec0970b2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bec0970b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אנדריי (הוביל את ה-tesla autopilot, היה co-founder של openai, יצר את המונח vibe-coding)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כל tweet שלו הוא רעידת אדמה בתחום. לשים לב טוב טוב לתובנות ממנו.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55" name="Google Shape;55;p13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הצגת מאמר:</a:t>
              </a:r>
              <a:endParaRPr b="1" sz="27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57" name="Google Shape;57;p13"/>
          <p:cNvGrpSpPr/>
          <p:nvPr/>
        </p:nvGrpSpPr>
        <p:grpSpPr>
          <a:xfrm>
            <a:off x="571500" y="952500"/>
            <a:ext cx="8001000" cy="1714500"/>
            <a:chOff x="571500" y="952500"/>
            <a:chExt cx="8001000" cy="1714500"/>
          </a:xfrm>
        </p:grpSpPr>
        <p:sp>
          <p:nvSpPr>
            <p:cNvPr id="58" name="Google Shape;58;p13"/>
            <p:cNvSpPr/>
            <p:nvPr/>
          </p:nvSpPr>
          <p:spPr>
            <a:xfrm>
              <a:off x="571500" y="952500"/>
              <a:ext cx="8001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762000" y="1143000"/>
              <a:ext cx="7620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CODEXGRAPH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Bridging Large Language Models and Code Repositories via Code Graph Databases </a:t>
              </a:r>
              <a:r>
                <a:rPr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(2024)</a:t>
              </a:r>
              <a:endParaRPr b="0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https://arxiv.org/pdf/2408.03910</a:t>
              </a:r>
              <a:endParaRPr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571500" y="2857500"/>
            <a:ext cx="3810000" cy="1524000"/>
            <a:chOff x="571500" y="2857500"/>
            <a:chExt cx="3810000" cy="1524000"/>
          </a:xfrm>
        </p:grpSpPr>
        <p:sp>
          <p:nvSpPr>
            <p:cNvPr id="61" name="Google Shape;61;p13"/>
            <p:cNvSpPr/>
            <p:nvPr/>
          </p:nvSpPr>
          <p:spPr>
            <a:xfrm>
              <a:off x="571500" y="2857500"/>
              <a:ext cx="3810000" cy="1524000"/>
            </a:xfrm>
            <a:prstGeom prst="roundRect">
              <a:avLst>
                <a:gd fmla="val 5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762000" y="3048000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Submitted by:</a:t>
              </a:r>
              <a:endParaRPr b="1" sz="1200">
                <a:solidFill>
                  <a:srgbClr val="0F172A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Ohad Livay, Yotam Katz</a:t>
              </a:r>
              <a:endParaRPr sz="14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Lecturer:</a:t>
              </a:r>
              <a:endParaRPr b="1" sz="1200">
                <a:solidFill>
                  <a:srgbClr val="0F172A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Prof</a:t>
              </a:r>
              <a:r>
                <a:rPr lang="en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. </a:t>
              </a:r>
              <a:r>
                <a:rPr lang="en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Iris Reinhartz-Berger</a:t>
              </a:r>
              <a:endParaRPr sz="14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4762500" y="2857500"/>
            <a:ext cx="3810000" cy="1524000"/>
            <a:chOff x="4762500" y="2857500"/>
            <a:chExt cx="3810000" cy="1524000"/>
          </a:xfrm>
        </p:grpSpPr>
        <p:sp>
          <p:nvSpPr>
            <p:cNvPr id="64" name="Google Shape;64;p13"/>
            <p:cNvSpPr/>
            <p:nvPr/>
          </p:nvSpPr>
          <p:spPr>
            <a:xfrm>
              <a:off x="4762500" y="2857500"/>
              <a:ext cx="3810000" cy="1524000"/>
            </a:xfrm>
            <a:prstGeom prst="roundRect">
              <a:avLst>
                <a:gd fmla="val 5000" name="adj"/>
              </a:avLst>
            </a:prstGeom>
            <a:solidFill>
              <a:srgbClr val="38BDF8">
                <a:alpha val="10000"/>
              </a:srgbClr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4953000" y="3048000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369A1"/>
                  </a:solidFill>
                  <a:latin typeface="Assistant"/>
                  <a:ea typeface="Assistant"/>
                  <a:cs typeface="Assistant"/>
                  <a:sym typeface="Assistant"/>
                </a:rPr>
                <a:t>קורס:</a:t>
              </a:r>
              <a:endParaRPr b="1" sz="1200">
                <a:solidFill>
                  <a:srgbClr val="0369A1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C4A6E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סמינר: הנדסת תוכנה בעידן ה-AI</a:t>
              </a:r>
              <a:endParaRPr b="0" sz="1600">
                <a:solidFill>
                  <a:srgbClr val="0C4A6E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  <a:p>
              <a:pPr indent="0" lvl="0" marL="0" rtl="1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369A1"/>
                  </a:solidFill>
                  <a:latin typeface="Assistant"/>
                  <a:ea typeface="Assistant"/>
                  <a:cs typeface="Assistant"/>
                  <a:sym typeface="Assistant"/>
                </a:rPr>
                <a:t>26 3500 ב01</a:t>
              </a:r>
              <a:endParaRPr sz="1200">
                <a:solidFill>
                  <a:srgbClr val="0369A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66" name="Google Shape;66;p13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67" name="Google Shape;67;p13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0" y="4762500"/>
              <a:ext cx="2286000" cy="381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4"/>
          <p:cNvGrpSpPr/>
          <p:nvPr/>
        </p:nvGrpSpPr>
        <p:grpSpPr>
          <a:xfrm>
            <a:off x="0" y="0"/>
            <a:ext cx="9144000" cy="952650"/>
            <a:chOff x="0" y="0"/>
            <a:chExt cx="9144000" cy="952650"/>
          </a:xfrm>
        </p:grpSpPr>
        <p:sp>
          <p:nvSpPr>
            <p:cNvPr id="74" name="Google Shape;74;p14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0" y="857250"/>
              <a:ext cx="2286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381000" y="1905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הבעיה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571500" y="1333500"/>
            <a:ext cx="3905400" cy="2667000"/>
            <a:chOff x="571500" y="1333500"/>
            <a:chExt cx="3905400" cy="2667000"/>
          </a:xfrm>
        </p:grpSpPr>
        <p:sp>
          <p:nvSpPr>
            <p:cNvPr id="78" name="Google Shape;78;p14"/>
            <p:cNvSpPr/>
            <p:nvPr/>
          </p:nvSpPr>
          <p:spPr>
            <a:xfrm>
              <a:off x="571500" y="1333500"/>
              <a:ext cx="39054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762000" y="2000250"/>
              <a:ext cx="3524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צורך בהקשר רלוונטי</a:t>
              </a:r>
              <a:endParaRPr b="1" sz="16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 שפה גדולים (LLMs) שעובדים על מאגרי קוד אמיתיים זקוקים להקשר רלוונטי מתוך בסיס הקוד לביצוע משימות כמו תיקון באגים והשלמת קוד עם תלות בין קבצים.</a:t>
              </a:r>
              <a:endParaRPr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80" name="Google Shape;80;p14"/>
          <p:cNvGrpSpPr/>
          <p:nvPr/>
        </p:nvGrpSpPr>
        <p:grpSpPr>
          <a:xfrm>
            <a:off x="4667250" y="1333500"/>
            <a:ext cx="3905400" cy="2667000"/>
            <a:chOff x="4667250" y="1333500"/>
            <a:chExt cx="3905400" cy="2667000"/>
          </a:xfrm>
        </p:grpSpPr>
        <p:sp>
          <p:nvSpPr>
            <p:cNvPr id="81" name="Google Shape;81;p14"/>
            <p:cNvSpPr/>
            <p:nvPr/>
          </p:nvSpPr>
          <p:spPr>
            <a:xfrm>
              <a:off x="4667250" y="1333500"/>
              <a:ext cx="39054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7843475" y="1409550"/>
              <a:ext cx="6558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block</a:t>
              </a:r>
              <a:endParaRPr sz="248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4857750" y="2000250"/>
              <a:ext cx="3524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F4444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המודל לא מכיר את הקודבייס</a:t>
              </a:r>
              <a:endParaRPr b="1" sz="1600">
                <a:solidFill>
                  <a:srgbClr val="EF4444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RACG </a:t>
              </a:r>
              <a:r>
                <a:rPr b="1" lang="en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מבוסס דמיון:</a:t>
              </a:r>
              <a:r>
                <a:rPr lang="en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(BM25, אמבדינגים) אינו מבין את מבנה הקוד.</a:t>
              </a:r>
              <a:endParaRPr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כלים ייעודיים:</a:t>
              </a:r>
              <a:r>
                <a:rPr lang="en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(AutoCodeRover) עובדים טוב על מדד ספציפי אך אינם מכלילים היטב.</a:t>
              </a:r>
              <a:endParaRPr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84" name="Google Shape;84;p14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3912600" y="1460825"/>
            <a:ext cx="401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8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code</a:t>
            </a:r>
            <a:endParaRPr sz="2480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5"/>
          <p:cNvGrpSpPr/>
          <p:nvPr/>
        </p:nvGrpSpPr>
        <p:grpSpPr>
          <a:xfrm>
            <a:off x="0" y="0"/>
            <a:ext cx="9144000" cy="952650"/>
            <a:chOff x="0" y="0"/>
            <a:chExt cx="9144000" cy="952650"/>
          </a:xfrm>
        </p:grpSpPr>
        <p:sp>
          <p:nvSpPr>
            <p:cNvPr id="91" name="Google Shape;91;p15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6858000" y="857250"/>
              <a:ext cx="2286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381000" y="1905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תרומה מרכזית של המאמר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94" name="Google Shape;94;p15"/>
          <p:cNvSpPr txBox="1"/>
          <p:nvPr/>
        </p:nvSpPr>
        <p:spPr>
          <a:xfrm>
            <a:off x="571500" y="10139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rPr>
              <a:t>דרך חדשנית לשפר RACG: </a:t>
            </a:r>
            <a:r>
              <a:rPr b="0" lang="en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rPr>
              <a:t>המרת מאגר הקוד למסד נתונים גרפי (כמו </a:t>
            </a:r>
            <a:r>
              <a:rPr b="1" lang="en" sz="1600">
                <a:solidFill>
                  <a:srgbClr val="0284C7"/>
                </a:solidFill>
                <a:latin typeface="Assistant"/>
                <a:ea typeface="Assistant"/>
                <a:cs typeface="Assistant"/>
                <a:sym typeface="Assistant"/>
              </a:rPr>
              <a:t>Neo4j</a:t>
            </a:r>
            <a:r>
              <a:rPr b="0" lang="en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rPr>
              <a:t>) ו</a:t>
            </a:r>
            <a:r>
              <a:rPr lang="en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rPr>
              <a:t>נתינת האפשרות למודל להפעיל ולקבל תשובות מ</a:t>
            </a:r>
            <a:r>
              <a:rPr b="0" lang="en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rPr>
              <a:t>שאילתות</a:t>
            </a:r>
            <a:r>
              <a:rPr lang="en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rPr>
              <a:t> שפועלות על הגרף ומאחזרות קוד.</a:t>
            </a:r>
            <a:endParaRPr b="0" sz="1600">
              <a:solidFill>
                <a:srgbClr val="1E293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087350" y="1680800"/>
            <a:ext cx="3714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172A"/>
                </a:solidFill>
                <a:latin typeface="Assistant"/>
                <a:ea typeface="Assistant"/>
                <a:cs typeface="Assistant"/>
                <a:sym typeface="Assistant"/>
              </a:rPr>
              <a:t>מבנה הגרף (Graph Structure)</a:t>
            </a:r>
            <a:endParaRPr b="1" sz="1600">
              <a:solidFill>
                <a:srgbClr val="0F172A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84C7"/>
                </a:solidFill>
                <a:latin typeface="Assistant"/>
                <a:ea typeface="Assistant"/>
                <a:cs typeface="Assistant"/>
                <a:sym typeface="Assistant"/>
              </a:rPr>
              <a:t>Nodes:</a:t>
            </a:r>
            <a:r>
              <a:rPr lang="en" sz="14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MODULE, CLASS, METHOD, FUNCTION, FIELD, GLOBAL_VARIABLE</a:t>
            </a:r>
            <a:endParaRPr sz="14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84C7"/>
                </a:solidFill>
                <a:latin typeface="Assistant"/>
                <a:ea typeface="Assistant"/>
                <a:cs typeface="Assistant"/>
                <a:sym typeface="Assistant"/>
              </a:rPr>
              <a:t>Edges:</a:t>
            </a:r>
            <a:r>
              <a:rPr lang="en" sz="14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CONTAINS, INHERITS, HAS_METHOD, HAS_FIELD, USES</a:t>
            </a:r>
            <a:endParaRPr sz="14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rPr>
              <a:t>אינדוקס דו-שלבי: סריקה מהירה ומעבר DFS למילוי קשרים בין קבצים.</a:t>
            </a:r>
            <a:endParaRPr sz="1100">
              <a:solidFill>
                <a:srgbClr val="64748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428500" y="1680800"/>
            <a:ext cx="3714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0">
                <a:solidFill>
                  <a:srgbClr val="0F172A"/>
                </a:solidFill>
                <a:latin typeface="Assistant"/>
                <a:ea typeface="Assistant"/>
                <a:cs typeface="Assistant"/>
                <a:sym typeface="Assistant"/>
              </a:rPr>
              <a:t>מנגנון הפעולה</a:t>
            </a:r>
            <a:endParaRPr b="1" sz="1480">
              <a:solidFill>
                <a:srgbClr val="0F172A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3">
                <a:solidFill>
                  <a:srgbClr val="0284C7"/>
                </a:solidFill>
                <a:latin typeface="Assistant"/>
                <a:ea typeface="Assistant"/>
                <a:cs typeface="Assistant"/>
                <a:sym typeface="Assistant"/>
              </a:rPr>
              <a:t>Primary Agent:</a:t>
            </a:r>
            <a:r>
              <a:rPr lang="en" sz="1203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אחראי על תרגום המשימה. כותב שאילתות בשפה טבעית על בסיס משימת הקוד.</a:t>
            </a:r>
            <a:endParaRPr sz="1203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203">
                <a:solidFill>
                  <a:srgbClr val="0284C7"/>
                </a:solidFill>
                <a:latin typeface="Assistant"/>
                <a:ea typeface="Assistant"/>
                <a:cs typeface="Assistant"/>
                <a:sym typeface="Assistant"/>
              </a:rPr>
              <a:t>Translation Agent:</a:t>
            </a:r>
            <a:r>
              <a:rPr lang="en" sz="1203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מקבל מהסוכן את השאילתות בשפה הטבעית ומתרגם לשאילתות אחזור בגרף.</a:t>
            </a:r>
            <a:endParaRPr sz="1203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203">
                <a:solidFill>
                  <a:srgbClr val="0284C7"/>
                </a:solidFill>
                <a:latin typeface="Assistant"/>
                <a:ea typeface="Assistant"/>
                <a:cs typeface="Assistant"/>
                <a:sym typeface="Assistant"/>
              </a:rPr>
              <a:t>Iterative Loop:</a:t>
            </a:r>
            <a:r>
              <a:rPr lang="en" sz="1203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ביצוע שאילתות חוזרות עד להשגת הקשר מספק.</a:t>
            </a:r>
            <a:endParaRPr sz="1203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4">
            <a:alphaModFix/>
          </a:blip>
          <a:srcRect b="11151" l="0" r="0" t="11143"/>
          <a:stretch/>
        </p:blipFill>
        <p:spPr>
          <a:xfrm>
            <a:off x="941320" y="3226600"/>
            <a:ext cx="7114500" cy="16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12449" l="0" r="0" t="27058"/>
          <a:stretch/>
        </p:blipFill>
        <p:spPr>
          <a:xfrm>
            <a:off x="24750" y="0"/>
            <a:ext cx="9119400" cy="51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7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08" name="Google Shape;108;p1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יצירת הגרף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111" name="Google Shape;111;p17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571500" y="1143000"/>
            <a:ext cx="1714500" cy="952500"/>
            <a:chOff x="571500" y="1143000"/>
            <a:chExt cx="1714500" cy="952500"/>
          </a:xfrm>
        </p:grpSpPr>
        <p:sp>
          <p:nvSpPr>
            <p:cNvPr id="113" name="Google Shape;113;p17"/>
            <p:cNvSpPr/>
            <p:nvPr/>
          </p:nvSpPr>
          <p:spPr>
            <a:xfrm>
              <a:off x="571500" y="1143000"/>
              <a:ext cx="1714500" cy="9525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666750" y="12382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1. Schema</a:t>
              </a:r>
              <a:endParaRPr b="1" sz="1400">
                <a:solidFill>
                  <a:srgbClr val="0F172A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Defining Nodes &amp; Edges</a:t>
              </a:r>
              <a:endParaRPr sz="11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pic>
        <p:nvPicPr>
          <p:cNvPr id="115" name="Google Shape;1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552575"/>
            <a:ext cx="571500" cy="13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7"/>
          <p:cNvGrpSpPr/>
          <p:nvPr/>
        </p:nvGrpSpPr>
        <p:grpSpPr>
          <a:xfrm>
            <a:off x="2667000" y="1143000"/>
            <a:ext cx="1714500" cy="952500"/>
            <a:chOff x="2667000" y="1143000"/>
            <a:chExt cx="1714500" cy="952500"/>
          </a:xfrm>
        </p:grpSpPr>
        <p:sp>
          <p:nvSpPr>
            <p:cNvPr id="117" name="Google Shape;117;p17"/>
            <p:cNvSpPr/>
            <p:nvPr/>
          </p:nvSpPr>
          <p:spPr>
            <a:xfrm>
              <a:off x="2667000" y="1143000"/>
              <a:ext cx="1714500" cy="9525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2762250" y="12382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2. Shallow Index</a:t>
              </a:r>
              <a:endParaRPr b="1" sz="1400">
                <a:solidFill>
                  <a:srgbClr val="0F172A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AST &amp; Local Symbols</a:t>
              </a:r>
              <a:endParaRPr sz="11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pic>
        <p:nvPicPr>
          <p:cNvPr id="119" name="Google Shape;11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09725"/>
            <a:ext cx="381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7"/>
          <p:cNvGrpSpPr/>
          <p:nvPr/>
        </p:nvGrpSpPr>
        <p:grpSpPr>
          <a:xfrm>
            <a:off x="4762500" y="1143000"/>
            <a:ext cx="1714500" cy="952500"/>
            <a:chOff x="4762500" y="1143000"/>
            <a:chExt cx="1714500" cy="952500"/>
          </a:xfrm>
        </p:grpSpPr>
        <p:sp>
          <p:nvSpPr>
            <p:cNvPr id="121" name="Google Shape;121;p17"/>
            <p:cNvSpPr/>
            <p:nvPr/>
          </p:nvSpPr>
          <p:spPr>
            <a:xfrm>
              <a:off x="4762500" y="1143000"/>
              <a:ext cx="1714500" cy="9525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4857750" y="12382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3. Deep Analysis</a:t>
              </a:r>
              <a:endParaRPr b="1" sz="1400">
                <a:solidFill>
                  <a:srgbClr val="0F172A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Cross-file DFS &amp; Imports</a:t>
              </a:r>
              <a:endParaRPr sz="11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pic>
        <p:nvPicPr>
          <p:cNvPr id="123" name="Google Shape;1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1609725"/>
            <a:ext cx="381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7"/>
          <p:cNvGrpSpPr/>
          <p:nvPr/>
        </p:nvGrpSpPr>
        <p:grpSpPr>
          <a:xfrm>
            <a:off x="6858000" y="1143000"/>
            <a:ext cx="1714500" cy="952500"/>
            <a:chOff x="6858000" y="1143000"/>
            <a:chExt cx="1714500" cy="952500"/>
          </a:xfrm>
        </p:grpSpPr>
        <p:sp>
          <p:nvSpPr>
            <p:cNvPr id="125" name="Google Shape;125;p17"/>
            <p:cNvSpPr/>
            <p:nvPr/>
          </p:nvSpPr>
          <p:spPr>
            <a:xfrm>
              <a:off x="6858000" y="1143000"/>
              <a:ext cx="1714500" cy="952500"/>
            </a:xfrm>
            <a:prstGeom prst="roundRect">
              <a:avLst>
                <a:gd fmla="val 12000" name="adj"/>
              </a:avLst>
            </a:prstGeom>
            <a:solidFill>
              <a:srgbClr val="F1F5F9"/>
            </a:solidFill>
            <a:ln cap="flat" cmpd="sng" w="9525">
              <a:solidFill>
                <a:srgbClr val="0F1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6953250" y="12382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4. Neo4j</a:t>
              </a:r>
              <a:endParaRPr b="1" sz="1400">
                <a:solidFill>
                  <a:srgbClr val="0F172A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Queryable Cypher DB</a:t>
              </a:r>
              <a:endParaRPr sz="11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27" name="Google Shape;127;p17"/>
          <p:cNvGrpSpPr/>
          <p:nvPr/>
        </p:nvGrpSpPr>
        <p:grpSpPr>
          <a:xfrm>
            <a:off x="571500" y="2476500"/>
            <a:ext cx="8001000" cy="952500"/>
            <a:chOff x="571500" y="2476500"/>
            <a:chExt cx="8001000" cy="952500"/>
          </a:xfrm>
        </p:grpSpPr>
        <p:sp>
          <p:nvSpPr>
            <p:cNvPr id="128" name="Google Shape;128;p17"/>
            <p:cNvSpPr/>
            <p:nvPr/>
          </p:nvSpPr>
          <p:spPr>
            <a:xfrm>
              <a:off x="571500" y="2476500"/>
              <a:ext cx="8001000" cy="952500"/>
            </a:xfrm>
            <a:prstGeom prst="roundRect">
              <a:avLst>
                <a:gd fmla="val 8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762000" y="257175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CodexGraph uses a </a:t>
              </a:r>
              <a:r>
                <a:rPr b="1" lang="en" sz="12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two-stage static analysis pipeline</a:t>
              </a:r>
              <a:r>
                <a:rPr lang="en" sz="12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to map codebases. It starts with single-file indexing (AST) and completes the graph by resolving complex cross-file dependencies using DFS.</a:t>
              </a:r>
              <a:endParaRPr sz="12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8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35" name="Google Shape;135;p18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התוצאות: ביצועים והערכה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138" name="Google Shape;138;p18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800" y="1091213"/>
            <a:ext cx="6220025" cy="2650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8"/>
          <p:cNvGrpSpPr/>
          <p:nvPr/>
        </p:nvGrpSpPr>
        <p:grpSpPr>
          <a:xfrm>
            <a:off x="399250" y="3864450"/>
            <a:ext cx="8477400" cy="666900"/>
            <a:chOff x="333375" y="4000500"/>
            <a:chExt cx="8477400" cy="666900"/>
          </a:xfrm>
        </p:grpSpPr>
        <p:sp>
          <p:nvSpPr>
            <p:cNvPr id="141" name="Google Shape;141;p18"/>
            <p:cNvSpPr/>
            <p:nvPr/>
          </p:nvSpPr>
          <p:spPr>
            <a:xfrm>
              <a:off x="333375" y="4000500"/>
              <a:ext cx="8477400" cy="666900"/>
            </a:xfrm>
            <a:prstGeom prst="roundRect">
              <a:avLst>
                <a:gd fmla="val 11428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428625" y="4000500"/>
              <a:ext cx="828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EM:</a:t>
              </a:r>
              <a:r>
                <a:rPr b="0" lang="en" sz="11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Exact match </a:t>
              </a:r>
              <a:r>
                <a:rPr b="1" lang="en" sz="11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ES:</a:t>
              </a:r>
              <a:r>
                <a:rPr b="0" lang="en" sz="11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Edit Similarity </a:t>
              </a:r>
              <a:r>
                <a:rPr b="1" lang="en" sz="11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ID-EM:</a:t>
              </a:r>
              <a:r>
                <a:rPr b="0" lang="en" sz="11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identifier EM </a:t>
              </a:r>
              <a:r>
                <a:rPr b="1" lang="en" sz="1100">
                  <a:solidFill>
                    <a:srgbClr val="0F172A"/>
                  </a:solidFill>
                  <a:latin typeface="Assistant"/>
                  <a:ea typeface="Assistant"/>
                  <a:cs typeface="Assistant"/>
                  <a:sym typeface="Assistant"/>
                </a:rPr>
                <a:t>ID-F1:</a:t>
              </a:r>
              <a:r>
                <a:rPr b="0" lang="en" sz="11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FP,FN of correct retrieval</a:t>
              </a:r>
              <a:endParaRPr b="0" sz="11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9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48" name="Google Shape;148;p19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Ablation of Translation Agent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151" name="Google Shape;151;p19"/>
          <p:cNvSpPr/>
          <p:nvPr/>
        </p:nvSpPr>
        <p:spPr>
          <a:xfrm>
            <a:off x="381000" y="952500"/>
            <a:ext cx="8382000" cy="1714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19"/>
          <p:cNvGrpSpPr/>
          <p:nvPr/>
        </p:nvGrpSpPr>
        <p:grpSpPr>
          <a:xfrm>
            <a:off x="4667250" y="2857500"/>
            <a:ext cx="4095900" cy="1714500"/>
            <a:chOff x="4667250" y="2857500"/>
            <a:chExt cx="4095900" cy="1714500"/>
          </a:xfrm>
        </p:grpSpPr>
        <p:sp>
          <p:nvSpPr>
            <p:cNvPr id="153" name="Google Shape;153;p19"/>
            <p:cNvSpPr/>
            <p:nvPr/>
          </p:nvSpPr>
          <p:spPr>
            <a:xfrm>
              <a:off x="4667250" y="2857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45720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991B1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45720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991B1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מה הגבול? </a:t>
              </a:r>
              <a:endParaRPr b="1" sz="2000">
                <a:solidFill>
                  <a:srgbClr val="991B1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45720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991B1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כמה צריך\כדאי לפרק משימות?</a:t>
              </a:r>
              <a:endParaRPr b="1" sz="2000">
                <a:solidFill>
                  <a:srgbClr val="991B1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991B1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55" name="Google Shape;155;p19"/>
          <p:cNvGrpSpPr/>
          <p:nvPr/>
        </p:nvGrpSpPr>
        <p:grpSpPr>
          <a:xfrm>
            <a:off x="381000" y="2857500"/>
            <a:ext cx="4095900" cy="1714500"/>
            <a:chOff x="381000" y="2857500"/>
            <a:chExt cx="4095900" cy="1714500"/>
          </a:xfrm>
        </p:grpSpPr>
        <p:sp>
          <p:nvSpPr>
            <p:cNvPr id="156" name="Google Shape;156;p19"/>
            <p:cNvSpPr/>
            <p:nvPr/>
          </p:nvSpPr>
          <p:spPr>
            <a:xfrm>
              <a:off x="381000" y="2857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0FDF4"/>
            </a:solidFill>
            <a:ln cap="flat" cmpd="sng" w="9525">
              <a:solidFill>
                <a:srgbClr val="86EF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57150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5803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פירוק משימה לגורמים -&gt;</a:t>
              </a:r>
              <a:endParaRPr sz="1500">
                <a:solidFill>
                  <a:srgbClr val="15803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5803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סוכן יכול להתמקד -&gt;</a:t>
              </a:r>
              <a:endParaRPr sz="1500">
                <a:solidFill>
                  <a:srgbClr val="15803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5803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מעלה ביצועים ללא תלות במודל!</a:t>
              </a:r>
              <a:endParaRPr sz="1500">
                <a:solidFill>
                  <a:srgbClr val="15803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15803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15803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58" name="Google Shape;158;p19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554" y="804691"/>
            <a:ext cx="6704599" cy="20101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0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65" name="Google Shape;165;p2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Single query VS Multiple queries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68" name="Google Shape;168;p20"/>
          <p:cNvGrpSpPr/>
          <p:nvPr/>
        </p:nvGrpSpPr>
        <p:grpSpPr>
          <a:xfrm>
            <a:off x="4735200" y="2857500"/>
            <a:ext cx="4095900" cy="1714500"/>
            <a:chOff x="4735200" y="2857500"/>
            <a:chExt cx="4095900" cy="1714500"/>
          </a:xfrm>
        </p:grpSpPr>
        <p:sp>
          <p:nvSpPr>
            <p:cNvPr id="169" name="Google Shape;169;p20"/>
            <p:cNvSpPr/>
            <p:nvPr/>
          </p:nvSpPr>
          <p:spPr>
            <a:xfrm>
              <a:off x="4735200" y="2857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בכל איטרציה - כמה שאילתות נייצר?</a:t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יותר שאילתות - יותר FP </a:t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פחות שאילתות - יותר FN</a:t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SWE-bench - requires harder reasoning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CrossCodeEval - requires repo-wide context</a:t>
              </a:r>
              <a:endParaRPr/>
            </a:p>
          </p:txBody>
        </p:sp>
      </p:grpSp>
      <p:sp>
        <p:nvSpPr>
          <p:cNvPr id="171" name="Google Shape;171;p20"/>
          <p:cNvSpPr txBox="1"/>
          <p:nvPr/>
        </p:nvSpPr>
        <p:spPr>
          <a:xfrm>
            <a:off x="571500" y="3000375"/>
            <a:ext cx="3714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14532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225" y="880451"/>
            <a:ext cx="4362025" cy="244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1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79" name="Google Shape;179;p21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1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1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ביקורת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182" name="Google Shape;182;p21"/>
          <p:cNvSpPr/>
          <p:nvPr/>
        </p:nvSpPr>
        <p:spPr>
          <a:xfrm>
            <a:off x="381000" y="952500"/>
            <a:ext cx="6766200" cy="14976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21"/>
          <p:cNvGrpSpPr/>
          <p:nvPr/>
        </p:nvGrpSpPr>
        <p:grpSpPr>
          <a:xfrm>
            <a:off x="4735200" y="2857500"/>
            <a:ext cx="4095900" cy="1714500"/>
            <a:chOff x="4735200" y="2857500"/>
            <a:chExt cx="4095900" cy="1714500"/>
          </a:xfrm>
        </p:grpSpPr>
        <p:sp>
          <p:nvSpPr>
            <p:cNvPr id="184" name="Google Shape;184;p21"/>
            <p:cNvSpPr/>
            <p:nvPr/>
          </p:nvSpPr>
          <p:spPr>
            <a:xfrm>
              <a:off x="4735200" y="2857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בתיאוריה: CodexGraph נועד להתגבר על קודבייס גדול מדי בשביל להכניס לקונטקסט של המודל</a:t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אבל החוקרים בעצמם נתקלו בקשיים הקשורים בגודל ומורכבות הקודבייס.</a:t>
              </a:r>
              <a:endParaRPr/>
            </a:p>
          </p:txBody>
        </p:sp>
      </p:grpSp>
      <p:sp>
        <p:nvSpPr>
          <p:cNvPr id="186" name="Google Shape;186;p21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453" y="1130225"/>
            <a:ext cx="6319100" cy="87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93" name="Google Shape;193;p22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2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ביקורת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196" name="Google Shape;196;p22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374200" y="1285875"/>
            <a:ext cx="7248900" cy="2468700"/>
          </a:xfrm>
          <a:prstGeom prst="roundRect">
            <a:avLst>
              <a:gd fmla="val 6666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חסרים הפרומפטים עבור שני הסוכנים הראשיים.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חסר פירוט איך נבנה הפרומפט הדינמי שכולל את הקוד הרלוונטי (append? קריאה חדשה? המשך ה-thread?)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אין הסבר מדוע נבחרה טמפרטורה 0 עבור gpt 4o/qwen2 אך טמפרטורה 1 עבור deepseek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נבדק רק על פייתון וכדי לבדוק יכולת הכללה של מערכת כדאי לבדוק שפות שונות מהותית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3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03" name="Google Shape;203;p23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3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3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שיפורים, הצעות ותהיות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206" name="Google Shape;206;p23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23"/>
          <p:cNvGrpSpPr/>
          <p:nvPr/>
        </p:nvGrpSpPr>
        <p:grpSpPr>
          <a:xfrm>
            <a:off x="374205" y="1285875"/>
            <a:ext cx="8198445" cy="3143400"/>
            <a:chOff x="374205" y="1285875"/>
            <a:chExt cx="8198445" cy="3143400"/>
          </a:xfrm>
        </p:grpSpPr>
        <p:sp>
          <p:nvSpPr>
            <p:cNvPr id="208" name="Google Shape;208;p23"/>
            <p:cNvSpPr/>
            <p:nvPr/>
          </p:nvSpPr>
          <p:spPr>
            <a:xfrm>
              <a:off x="374205" y="1285875"/>
              <a:ext cx="72489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הרחבת ה-usecase לסוגים נוספים של גרפים:</a:t>
              </a:r>
              <a:endParaRPr/>
            </a:p>
            <a:p>
              <a:pPr indent="-317500" lvl="1" marL="9144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lphaLcPeriod"/>
              </a:pPr>
              <a:r>
                <a:rPr lang="en"/>
                <a:t>דטאבייס רלציוני בשביל משימות Exploratory Data Analysis</a:t>
              </a:r>
              <a:endParaRPr/>
            </a:p>
            <a:p>
              <a:pPr indent="-317500" lvl="1" marL="9144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lphaLcPeriod"/>
              </a:pPr>
              <a:r>
                <a:rPr lang="en"/>
                <a:t>מאגר מידע ארגוני לצורך RAG</a:t>
              </a:r>
              <a:endParaRPr/>
            </a:p>
            <a:p>
              <a:pPr indent="-317500" lvl="1" marL="9144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lphaLcPeriod"/>
              </a:pPr>
              <a:r>
                <a:rPr lang="en"/>
                <a:t>…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לחקור השפעת היפרפרמטרים של המודל כמו טמפרטורה\TOP-K\effort\prompt על ביצועים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לחקור השפעת כמות הטוקנים וקריאות ל-LLM המותרות על ביצועי המודל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מעניין לדעת אם פירוק משימה לגורמים עדיין רלוונטי כיום עבור מודלים עם context window גדול (למודל Gpt 4o היה 128K, כיום opus4.6/gemini 3.1pro עם יותר ממיליון!)</a:t>
              </a:r>
              <a:endParaRPr/>
            </a:p>
          </p:txBody>
        </p:sp>
        <p:sp>
          <p:nvSpPr>
            <p:cNvPr id="209" name="Google Shape;209;p23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4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15" name="Google Shape;215;p24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4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הפעלה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18" name="Google Shape;218;p24"/>
          <p:cNvGrpSpPr/>
          <p:nvPr/>
        </p:nvGrpSpPr>
        <p:grpSpPr>
          <a:xfrm>
            <a:off x="374200" y="1301604"/>
            <a:ext cx="8198450" cy="3143400"/>
            <a:chOff x="374200" y="1285875"/>
            <a:chExt cx="8198450" cy="3143400"/>
          </a:xfrm>
        </p:grpSpPr>
        <p:sp>
          <p:nvSpPr>
            <p:cNvPr id="219" name="Google Shape;219;p24"/>
            <p:cNvSpPr/>
            <p:nvPr/>
          </p:nvSpPr>
          <p:spPr>
            <a:xfrm>
              <a:off x="374200" y="1285875"/>
              <a:ext cx="7731000" cy="21426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אנחנו, מחלקת R&amp;D, רוצים לפתח מערכת תומכת SWE </a:t>
              </a:r>
              <a:r>
                <a:rPr lang="en"/>
                <a:t>בהשראת CodexGraph </a:t>
              </a:r>
              <a:r>
                <a:rPr lang="en"/>
                <a:t>(אבל לא בהכרח 1:1)</a:t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ביחד אנחנו צריכים להחליט על הארכיטקטורה. על כל שאלה ינתנו מספר אופציות כדוגמה - אין פתרון אחד נכון. אפשר להציע פתרון חדש, לשלב בין האופציות, לדון ביתרונות ובחסרונות של כל גישה.</a:t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רצוי מאוד לקחת בחשבון היבטי פיתוח תוכנה שונים: זמן פיתוח, כמות טוקנים לשימוש ממוצע, זמני ריצה, מורכבות הפרויקט וסיכונים, היבטי אבטחת מידע, איכות וכו'.</a:t>
              </a:r>
              <a:endParaRPr/>
            </a:p>
          </p:txBody>
        </p:sp>
        <p:sp>
          <p:nvSpPr>
            <p:cNvPr id="220" name="Google Shape;220;p24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24"/>
          <p:cNvSpPr txBox="1"/>
          <p:nvPr/>
        </p:nvSpPr>
        <p:spPr>
          <a:xfrm>
            <a:off x="571500" y="3000375"/>
            <a:ext cx="3714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14532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5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28" name="Google Shape;228;p25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5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5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הפעלה - שאלה 1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31" name="Google Shape;231;p25"/>
          <p:cNvGrpSpPr/>
          <p:nvPr/>
        </p:nvGrpSpPr>
        <p:grpSpPr>
          <a:xfrm>
            <a:off x="374205" y="1285875"/>
            <a:ext cx="8198445" cy="3143400"/>
            <a:chOff x="374205" y="1285875"/>
            <a:chExt cx="8198445" cy="3143400"/>
          </a:xfrm>
        </p:grpSpPr>
        <p:sp>
          <p:nvSpPr>
            <p:cNvPr id="232" name="Google Shape;232;p25"/>
            <p:cNvSpPr/>
            <p:nvPr/>
          </p:nvSpPr>
          <p:spPr>
            <a:xfrm>
              <a:off x="374205" y="1285875"/>
              <a:ext cx="72489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באיזה שלב של ריצת המערכת הגרף יבנה? 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מיד עם קבלת הקודבייס (Pre-process)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בזמן שימוש )</a:t>
              </a:r>
              <a:endParaRPr/>
            </a:p>
          </p:txBody>
        </p:sp>
        <p:sp>
          <p:nvSpPr>
            <p:cNvPr id="233" name="Google Shape;233;p25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25"/>
          <p:cNvSpPr txBox="1"/>
          <p:nvPr/>
        </p:nvSpPr>
        <p:spPr>
          <a:xfrm>
            <a:off x="571500" y="3000375"/>
            <a:ext cx="3714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14532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6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41" name="Google Shape;241;p26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6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הפעלה - שאלה 2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44" name="Google Shape;244;p26"/>
          <p:cNvGrpSpPr/>
          <p:nvPr/>
        </p:nvGrpSpPr>
        <p:grpSpPr>
          <a:xfrm>
            <a:off x="374205" y="1285875"/>
            <a:ext cx="8198445" cy="3143400"/>
            <a:chOff x="374205" y="1285875"/>
            <a:chExt cx="8198445" cy="3143400"/>
          </a:xfrm>
        </p:grpSpPr>
        <p:sp>
          <p:nvSpPr>
            <p:cNvPr id="245" name="Google Shape;245;p26"/>
            <p:cNvSpPr/>
            <p:nvPr/>
          </p:nvSpPr>
          <p:spPr>
            <a:xfrm>
              <a:off x="374205" y="1285875"/>
              <a:ext cx="72489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45720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איך כדאי להנגיש את הגרף למודל?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בעזרת graph query language כלשהי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בעזרת פונקציות מוגדרות מראש כמו (get_methods(class), get_children(object</a:t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" name="Google Shape;247;p26"/>
          <p:cNvSpPr txBox="1"/>
          <p:nvPr/>
        </p:nvSpPr>
        <p:spPr>
          <a:xfrm>
            <a:off x="571500" y="3000375"/>
            <a:ext cx="3714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14532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7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54" name="Google Shape;254;p2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7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הפעלה - שאלה 3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257" name="Google Shape;257;p27"/>
          <p:cNvSpPr txBox="1"/>
          <p:nvPr/>
        </p:nvSpPr>
        <p:spPr>
          <a:xfrm>
            <a:off x="571500" y="3000375"/>
            <a:ext cx="3714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14532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374205" y="1285875"/>
            <a:ext cx="8198445" cy="3143400"/>
            <a:chOff x="374205" y="1285875"/>
            <a:chExt cx="8198445" cy="3143400"/>
          </a:xfrm>
        </p:grpSpPr>
        <p:sp>
          <p:nvSpPr>
            <p:cNvPr id="260" name="Google Shape;260;p27"/>
            <p:cNvSpPr/>
            <p:nvPr/>
          </p:nvSpPr>
          <p:spPr>
            <a:xfrm>
              <a:off x="374205" y="1285875"/>
              <a:ext cx="72489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איך כדאי לבנות את הגרף של הקוד? 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מודל LLM דמוי Crawler (יבצע ls, grep)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קוד שיכול לנתח את הסינטקס של השפה ולייצר את הגרף באופן דטרמניסטי</a:t>
              </a:r>
              <a:endParaRPr/>
            </a:p>
          </p:txBody>
        </p:sp>
        <p:sp>
          <p:nvSpPr>
            <p:cNvPr id="261" name="Google Shape;261;p27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28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67" name="Google Shape;267;p28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8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הפעלה - שאלה 4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70" name="Google Shape;270;p28"/>
          <p:cNvGrpSpPr/>
          <p:nvPr/>
        </p:nvGrpSpPr>
        <p:grpSpPr>
          <a:xfrm>
            <a:off x="374205" y="1285875"/>
            <a:ext cx="8198445" cy="3143400"/>
            <a:chOff x="374205" y="1285875"/>
            <a:chExt cx="8198445" cy="3143400"/>
          </a:xfrm>
        </p:grpSpPr>
        <p:sp>
          <p:nvSpPr>
            <p:cNvPr id="271" name="Google Shape;271;p28"/>
            <p:cNvSpPr/>
            <p:nvPr/>
          </p:nvSpPr>
          <p:spPr>
            <a:xfrm>
              <a:off x="374205" y="1285875"/>
              <a:ext cx="72489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איך כדאי שיראו ה-nodes וה-vertices של הגרף?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רזולוציה גבוהה: כל מתודה, מחלקה, משתנה - node.</a:t>
              </a:r>
              <a:endParaRPr/>
            </a:p>
            <a:p>
              <a:pPr indent="-317500" lvl="0" marL="457200" rtl="1" algn="r"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/>
                <a:t>רזולוציה נמוכה: רמת הקבצים. </a:t>
              </a:r>
              <a:endParaRPr/>
            </a:p>
          </p:txBody>
        </p:sp>
        <p:sp>
          <p:nvSpPr>
            <p:cNvPr id="272" name="Google Shape;272;p28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28"/>
          <p:cNvSpPr txBox="1"/>
          <p:nvPr/>
        </p:nvSpPr>
        <p:spPr>
          <a:xfrm>
            <a:off x="571500" y="3000375"/>
            <a:ext cx="3714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14532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9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80" name="Google Shape;280;p29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6858000" y="685800"/>
              <a:ext cx="2286000" cy="76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9"/>
            <p:cNvSpPr txBox="1"/>
            <p:nvPr/>
          </p:nvSpPr>
          <p:spPr>
            <a:xfrm>
              <a:off x="381000" y="14287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Bonus round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83" name="Google Shape;283;p29"/>
          <p:cNvGrpSpPr/>
          <p:nvPr/>
        </p:nvGrpSpPr>
        <p:grpSpPr>
          <a:xfrm>
            <a:off x="374205" y="1285875"/>
            <a:ext cx="8198445" cy="3143400"/>
            <a:chOff x="374205" y="1285875"/>
            <a:chExt cx="8198445" cy="3143400"/>
          </a:xfrm>
        </p:grpSpPr>
        <p:sp>
          <p:nvSpPr>
            <p:cNvPr id="284" name="Google Shape;284;p29"/>
            <p:cNvSpPr/>
            <p:nvPr/>
          </p:nvSpPr>
          <p:spPr>
            <a:xfrm>
              <a:off x="374205" y="1285875"/>
              <a:ext cx="72489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אילו שיקולים חשוב לקחת בחשבון כאשר תבחרו בין שימוש במודל Open-source לוקאלי (qwen,gemma) לבין מודל enterprise (כמו opus,gpt,gemini)</a:t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איך תדעו להחליט האם מודל A יותר מתאים למשימה ממודל B?</a:t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איך תמדדו האם שימוש במערכת שבנינו אכן עוזר למתכנתים שלנו?</a:t>
              </a:r>
              <a:endParaRPr/>
            </a:p>
          </p:txBody>
        </p:sp>
        <p:sp>
          <p:nvSpPr>
            <p:cNvPr id="285" name="Google Shape;285;p29"/>
            <p:cNvSpPr txBox="1"/>
            <p:nvPr/>
          </p:nvSpPr>
          <p:spPr>
            <a:xfrm>
              <a:off x="4857750" y="3000375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" name="Google Shape;286;p29"/>
          <p:cNvSpPr txBox="1"/>
          <p:nvPr/>
        </p:nvSpPr>
        <p:spPr>
          <a:xfrm>
            <a:off x="571500" y="3000375"/>
            <a:ext cx="3714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14532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30"/>
          <p:cNvGrpSpPr/>
          <p:nvPr/>
        </p:nvGrpSpPr>
        <p:grpSpPr>
          <a:xfrm>
            <a:off x="0" y="0"/>
            <a:ext cx="9144000" cy="952650"/>
            <a:chOff x="0" y="0"/>
            <a:chExt cx="9144000" cy="952650"/>
          </a:xfrm>
        </p:grpSpPr>
        <p:sp>
          <p:nvSpPr>
            <p:cNvPr id="293" name="Google Shape;293;p30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0" y="857250"/>
              <a:ext cx="2286000" cy="954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0"/>
            <p:cNvSpPr txBox="1"/>
            <p:nvPr/>
          </p:nvSpPr>
          <p:spPr>
            <a:xfrm>
              <a:off x="381000" y="1905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8BDF8"/>
                  </a:solidFill>
                  <a:latin typeface="Assistant"/>
                  <a:ea typeface="Assistant"/>
                  <a:cs typeface="Assistant"/>
                  <a:sym typeface="Assistant"/>
                </a:rPr>
                <a:t>בעיית הקונטקסט - רלוונטית מתמיד!</a:t>
              </a:r>
              <a:endParaRPr b="1" sz="2800">
                <a:solidFill>
                  <a:srgbClr val="38BDF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296" name="Google Shape;296;p30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7950" y="1650588"/>
            <a:ext cx="5667375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