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Inter SemiBold"/>
      <p:regular r:id="rId21"/>
      <p:bold r:id="rId22"/>
      <p:italic r:id="rId23"/>
      <p:boldItalic r:id="rId24"/>
    </p:embeddedFont>
    <p:embeddedFont>
      <p:font typeface="Inter"/>
      <p:regular r:id="rId25"/>
      <p:bold r:id="rId26"/>
      <p:italic r:id="rId27"/>
      <p:boldItalic r:id="rId28"/>
    </p:embeddedFont>
    <p:embeddedFont>
      <p:font typeface="Inter ExtraBold"/>
      <p:bold r:id="rId29"/>
      <p:boldItalic r:id="rId30"/>
    </p:embeddedFont>
    <p:embeddedFont>
      <p:font typeface="Instrument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InterSemiBold-bold.fntdata"/><Relationship Id="rId21" Type="http://schemas.openxmlformats.org/officeDocument/2006/relationships/font" Target="fonts/InterSemiBold-regular.fntdata"/><Relationship Id="rId24" Type="http://schemas.openxmlformats.org/officeDocument/2006/relationships/font" Target="fonts/InterSemiBold-boldItalic.fntdata"/><Relationship Id="rId23" Type="http://schemas.openxmlformats.org/officeDocument/2006/relationships/font" Target="fonts/Inter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Extra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strumentSans-regular.fntdata"/><Relationship Id="rId30" Type="http://schemas.openxmlformats.org/officeDocument/2006/relationships/font" Target="fonts/InterExtraBold-boldItalic.fntdata"/><Relationship Id="rId11" Type="http://schemas.openxmlformats.org/officeDocument/2006/relationships/slide" Target="slides/slide6.xml"/><Relationship Id="rId33" Type="http://schemas.openxmlformats.org/officeDocument/2006/relationships/font" Target="fonts/InstrumentSans-italic.fntdata"/><Relationship Id="rId10" Type="http://schemas.openxmlformats.org/officeDocument/2006/relationships/slide" Target="slides/slide5.xml"/><Relationship Id="rId32" Type="http://schemas.openxmlformats.org/officeDocument/2006/relationships/font" Target="fonts/InstrumentSans-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Instrument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e22b8199cf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e22b8199cf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lang="en"/>
              <a:t>המאמר עוסק בבעיה מאוד פרקטית בקוד שנוצר על ידי LLMs: הרבה פעמים המשתמש נותן דרישה קצרה או לא מדויקת, והמודל פשוט מנחש למה הוא התכוון.</a:t>
            </a:r>
            <a:endParaRPr/>
          </a:p>
          <a:p>
            <a:pPr indent="0" lvl="0" marL="0" rtl="1" algn="r">
              <a:spcBef>
                <a:spcPts val="0"/>
              </a:spcBef>
              <a:spcAft>
                <a:spcPts val="0"/>
              </a:spcAft>
              <a:buNone/>
            </a:pPr>
            <a:r>
              <a:rPr lang="en"/>
              <a:t>הנקודה המרכזית של המאמר היא שלא תמיד צריך לשפר את המודל כך שיכתוב קוד “חכם יותר”, אלא לפעמים צריך לגרום לו להתנהג יותר כמו מפתח אנושי, כלומר לעצור ולשאול שאלת הבהרה לפני שהוא מתחייב לפתרון.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22b8199cf_1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22b8199cf_1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lang="en"/>
              <a:t>הבעיה שהמאמר מזהה היא לא ש־LLMs לא יודעים לכתוב קוד. להפך, הם הרבה פעמים מייצרים קוד שנראה טוב, רץ, ואפילו עובר חלק מהבדיקות.</a:t>
            </a:r>
            <a:endParaRPr/>
          </a:p>
          <a:p>
            <a:pPr indent="0" lvl="0" marL="0" rtl="1" algn="r">
              <a:spcBef>
                <a:spcPts val="0"/>
              </a:spcBef>
              <a:spcAft>
                <a:spcPts val="0"/>
              </a:spcAft>
              <a:buClr>
                <a:schemeClr val="dk1"/>
              </a:buClr>
              <a:buSzPts val="1100"/>
              <a:buFont typeface="Arial"/>
              <a:buNone/>
            </a:pPr>
            <a:r>
              <a:rPr lang="en"/>
              <a:t>הבעיה היא שבקלט טבעי של בני אדם יש הרבה עמימות. כשמשתמש אומר “כתוב פונקציה שממיינת רשימה”, חסרים פרטים: האם המיון עולה או יורד? האם לשנות את הרשימה המקורית או להחזיר חדשה? מה קורה עם ערכים שווים? איזה סוגי ערכים? איזה שפת קוד?</a:t>
            </a:r>
            <a:endParaRPr/>
          </a:p>
          <a:p>
            <a:pPr indent="0" lvl="0" marL="0" rtl="1" algn="r">
              <a:spcBef>
                <a:spcPts val="0"/>
              </a:spcBef>
              <a:spcAft>
                <a:spcPts val="0"/>
              </a:spcAft>
              <a:buNone/>
            </a:pPr>
            <a:r>
              <a:rPr lang="en"/>
              <a:t>מפתח אנושי בדרך כלל היה שואל שאלת המשך. מודל שפה רגיל, לעומת זאת, הרבה פעמים פשוט בוחר פירוש אחד וממשיך. ואז נוצרת בעיה: הקוד יכול להיות נכון מבחינת syntax, אבל לא נכון מבחינת הכוונה.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22b8199cf_1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22b8199cf_1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lang="en"/>
              <a:t>במציאות</a:t>
            </a:r>
            <a:r>
              <a:rPr lang="en"/>
              <a:t>, דרישות כמעט אף פעם לא מגיעות בצורה מושלמת. משתמשים, מנהלי מוצר ומפתחים כותבים תיאור חלקי, כי הם מניחים שהצד השני ישלים את ההקשר.</a:t>
            </a:r>
            <a:endParaRPr/>
          </a:p>
          <a:p>
            <a:pPr indent="0" lvl="0" marL="0" rtl="1" algn="r">
              <a:spcBef>
                <a:spcPts val="0"/>
              </a:spcBef>
              <a:spcAft>
                <a:spcPts val="0"/>
              </a:spcAft>
              <a:buClr>
                <a:schemeClr val="dk1"/>
              </a:buClr>
              <a:buSzPts val="1100"/>
              <a:buFont typeface="Arial"/>
              <a:buNone/>
            </a:pPr>
            <a:r>
              <a:rPr lang="en"/>
              <a:t>ההבדל הוא שמפתח אנושי אמור לדעת לעצור ולשאול: “רגע, למה בדיוק התכוונת?”</a:t>
            </a:r>
            <a:endParaRPr/>
          </a:p>
          <a:p>
            <a:pPr indent="0" lvl="0" marL="0" rtl="1" algn="r">
              <a:spcBef>
                <a:spcPts val="0"/>
              </a:spcBef>
              <a:spcAft>
                <a:spcPts val="0"/>
              </a:spcAft>
              <a:buClr>
                <a:schemeClr val="dk1"/>
              </a:buClr>
              <a:buSzPts val="1100"/>
              <a:buFont typeface="Arial"/>
              <a:buNone/>
            </a:pPr>
            <a:r>
              <a:rPr lang="en"/>
              <a:t>LLM רגיל הרבה פעמים לא עוצר. הוא מייצר קוד לפי ההסתברות הגבוהה ביותר מבחינתו. זה יכול להיראות מאוד משכנע, וזאת בדיוק הבעיה. המשתמש מקבל תשובה בטוחה ומתקמפלת, אבל לא בהכרח את מה שהוא רצה.</a:t>
            </a:r>
            <a:endParaRPr/>
          </a:p>
          <a:p>
            <a:pPr indent="0" lvl="0" marL="0" rtl="1" algn="r">
              <a:spcBef>
                <a:spcPts val="0"/>
              </a:spcBef>
              <a:spcAft>
                <a:spcPts val="0"/>
              </a:spcAft>
              <a:buNone/>
            </a:pPr>
            <a:r>
              <a:rPr lang="en"/>
              <a:t>במילים אחרות, הבעיה היא לא שגיאת קוד, אלא hidden intent mismatch, חוסר התאמה סמוי בין הכוונה לבין הפתרון. </a:t>
            </a:r>
            <a:br>
              <a:rPr lang="en"/>
            </a:br>
            <a:r>
              <a:rPr lang="en"/>
              <a:t>למרות זאת חשוב גם לדעת מתי לשאול ומתי לא, לא כל עמימות מצדיקה שאלה נוספת</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22b8199cf_1_1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22b8199cf_1_1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בחלק זה נדבר על 2 האתגרים העיקריים שהמאמר מציג</a:t>
            </a:r>
            <a:br>
              <a:rPr lang="en"/>
            </a:br>
            <a:r>
              <a:rPr lang="en"/>
              <a:t>הראשון הוא “מתי לשאול”. אם המודל ישאל שאלות גם כשהדרישה ברורה, זה יפגע בחוויית המשתמש. תחשבו על קלוד קוד או ChatGPT שכל הזמן עוצרים אתכם עם שאלות במקום לתת קוד.</a:t>
            </a:r>
            <a:endParaRPr/>
          </a:p>
          <a:p>
            <a:pPr indent="0" lvl="0" marL="0" rtl="1" algn="r">
              <a:spcBef>
                <a:spcPts val="0"/>
              </a:spcBef>
              <a:spcAft>
                <a:spcPts val="0"/>
              </a:spcAft>
              <a:buNone/>
            </a:pPr>
            <a:r>
              <a:rPr lang="en"/>
              <a:t>מצד שני, אם המודל אף פעם לא שואל, הוא עלול לתת פתרון שגוי מבחינת הכוונה. כמובן גם שכל שאלה כזאת עולה כסף, לשאול עוד ועוד שאלות זה לא פתרון חינמי.</a:t>
            </a:r>
            <a:br>
              <a:rPr lang="en"/>
            </a:br>
            <a:r>
              <a:rPr lang="en"/>
              <a:t>האתגר השני הוא “מה לשאול”. גם אם זיהינו שיש עמימות, השאלה צריכה להיות ממוקדת. שאלה כמו “למה התכוונת?” לא בהכרח עוזרת. שאלה טובה היא למשל: "האם המיון צריך להיות בסדר עולה או יורד?"</a:t>
            </a:r>
            <a:br>
              <a:rPr lang="en"/>
            </a:br>
            <a:r>
              <a:rPr lang="en"/>
              <a:t>ClarifyGPT מנסה לענות על 2 האתגרים האלה בעזרת framework אחד שיודע לזהות שיש בעיה ולנסח שאלה שמכוונת בדיוק לנקודת הפיצול בין הפירושים השונים</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22b8199cf_1_1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e22b8199cf_1_1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מה הפתרון? ברמה הכי פשוטה, ClarifyGPT אומר: לפני שאני מייצר קוד סופי, בוא נראה האם הדרישה מובילה לכמה פירושים שונים. </a:t>
            </a:r>
            <a:endParaRPr/>
          </a:p>
          <a:p>
            <a:pPr indent="0" lvl="0" marL="0" rtl="1" algn="r">
              <a:spcBef>
                <a:spcPts val="0"/>
              </a:spcBef>
              <a:spcAft>
                <a:spcPts val="0"/>
              </a:spcAft>
              <a:buNone/>
            </a:pPr>
            <a:r>
              <a:rPr lang="en"/>
              <a:t>המערכת מבקשת מה־LLM לייצר כמה פתרונות קוד לאותה דרישה. אחר כך היא מריצה אותם על קלטים לבדיקה. אם כל הפתרונות מחזירים את אותו פלט, כנראה שהדרישה מספיק ברור וניתן להחזיר את הקוד.</a:t>
            </a:r>
            <a:br>
              <a:rPr lang="en"/>
            </a:br>
            <a:r>
              <a:rPr lang="en"/>
              <a:t>במקרה והפתרונות מראים התנהגות שונה, המודל פירש את הדרישה בכמה דרכים שונות, ואז ClarifyGPT לא ימשיך לנחש אלא עוצר ושואל את המשתמש שאלות הבהרה.</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22b8199cf_1_2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22b8199cf_1_2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כאן אנחנו כבר רואים את הpipeline המלא.</a:t>
            </a:r>
            <a:br>
              <a:rPr lang="en"/>
            </a:br>
            <a:r>
              <a:rPr lang="en"/>
              <a:t>המשתמש כותב דרישה כלשהי, clarifyGPT מייצר test inputs שונים שיאפשרו לו לבדוק התנהגויות של פתרונות שונים.</a:t>
            </a:r>
            <a:br>
              <a:rPr lang="en"/>
            </a:br>
            <a:r>
              <a:rPr lang="en"/>
              <a:t>בשלב הבא הוא דוגם מספר פתרונות אפשריים לדרישה מLLM. כל הפתרונות האלה רצים על אותם test inputs שנוצרו ואז משווים את הoutputs שלהם.</a:t>
            </a:r>
            <a:br>
              <a:rPr lang="en"/>
            </a:br>
            <a:r>
              <a:rPr lang="en"/>
              <a:t>אם כל הפלטים זהים, המערכת תחזיר את אחד הפתרונות קוד למשתמש.</a:t>
            </a:r>
            <a:br>
              <a:rPr lang="en"/>
            </a:br>
            <a:r>
              <a:rPr lang="en"/>
              <a:t>אם יש שוני כלשהו, המערכת עושה clustering לפי התנהגות, פלטים דומים נכנסים לאותה קטגוריה. מתוך ההבדלים בין הקבוצות המערכת מייצרת שאלת הבהרה.</a:t>
            </a:r>
            <a:br>
              <a:rPr lang="en"/>
            </a:br>
            <a:r>
              <a:rPr lang="en"/>
              <a:t>על פי התשובה של המשתמש הדרישה המקורית מתעדכנת ולפי זה נוצר קוד חדש.</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22b8199cf_1_29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e22b8199cf_1_29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22b8199cf_1_30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e22b8199cf_1_30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lang="en"/>
              <a:t>כדי לבדוק את ClarifyGPT, החוקרים השתמשו בשני סוגי הערכה.</a:t>
            </a:r>
            <a:endParaRPr/>
          </a:p>
          <a:p>
            <a:pPr indent="0" lvl="0" marL="0" rtl="1" algn="r">
              <a:spcBef>
                <a:spcPts val="0"/>
              </a:spcBef>
              <a:spcAft>
                <a:spcPts val="0"/>
              </a:spcAft>
              <a:buNone/>
            </a:pPr>
            <a:r>
              <a:rPr lang="en"/>
              <a:t>הראשון הוא human feedback: משתמשים אמיתיים ענו על שאלות ההבהרה ש־ClarifyGPT יצר. זה יותר קרוב לשימוש אמיתי, אבל קשה ויקר להריץ בקנה מידה גדול. </a:t>
            </a:r>
            <a:endParaRPr/>
          </a:p>
          <a:p>
            <a:pPr indent="0" lvl="0" marL="0" rtl="1" algn="r">
              <a:spcBef>
                <a:spcPts val="0"/>
              </a:spcBef>
              <a:spcAft>
                <a:spcPts val="0"/>
              </a:spcAft>
              <a:buNone/>
            </a:pPr>
            <a:r>
              <a:rPr lang="en"/>
              <a:t>השני הוא simulated user feedback: במקום בני אדם, הם השתמשו בסימולציה מבוססת LLM כדי לענות על שאלות ההבהרה. זה מאפשר לבדוק הרבה יותר דוגמאות, אבל זה גם פחות משקף בהכרח משתמשים אמיתיים. </a:t>
            </a:r>
            <a:br>
              <a:rPr lang="en"/>
            </a:br>
            <a:r>
              <a:rPr lang="en"/>
              <a:t>השיטה נבדקה על כמה בנצ'מרקים נפוצים והמדד המרכזי הוא Pass@1, כלומר המטרה הייתה לבדוק האם הפתרון הראשון שהמודל מייצר עובר את הטסטים. </a:t>
            </a:r>
            <a:br>
              <a:rPr lang="en"/>
            </a:br>
            <a:r>
              <a:rPr lang="en"/>
              <a:t>אם ישאלו: HumanEval ו־MBPP הם אוספים של משימות תכנות קצרות בפייתון, עם טסטים שמאפשרים לבדוק אם הפתרון נכון. גרסאות ה־ET מוסיפות בדיקות מורחבות יותר, ולכן הן בדרך כלל מקשות יותר על המודל. </a:t>
            </a:r>
            <a:endParaRPr/>
          </a:p>
          <a:p>
            <a:pPr indent="0" lvl="0" marL="0" rtl="1"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22b8199cf_1_3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e22b8199cf_1_3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בהערכה האנושית השתתפו 10 אנשים, והם ענו על שאלות ההבהרה שclarifyGPT יצר. לאחר מכן המערכת השתמשה בתשובות שלהם כדי לחדד את הדרישה והפיקה קוד סופי.</a:t>
            </a:r>
            <a:br>
              <a:rPr lang="en"/>
            </a:br>
            <a:r>
              <a:rPr lang="en"/>
              <a:t>התוצאות הראו שיפור בשימוש במודל GPT4, עלייה ממוצעת של כ-15% אחוזי הצלחה במבחנים השונים. כלומר, באמצעות אינטראקציה עם המשתמש המודל הצליח לייצר קוד שמתאים יותר לכוונה המקורית.</a:t>
            </a:r>
            <a:endParaRPr/>
          </a:p>
          <a:p>
            <a:pPr indent="0" lvl="0" marL="0" rtl="1" algn="r">
              <a:spcBef>
                <a:spcPts val="0"/>
              </a:spcBef>
              <a:spcAft>
                <a:spcPts val="0"/>
              </a:spcAft>
              <a:buNone/>
            </a:pPr>
            <a:r>
              <a:rPr lang="en"/>
              <a:t>היתרון של ההערכה האנושית הוא שהיא יותר קרובה לאינטראקציה אמיתית. החיסרון הוא שהיא קטנה, יקרה, וקשה להסיק ממנה מסקנות רחבות.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22b8199cf_1_4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e22b8199cf_1_4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lang="en"/>
              <a:t>אחרי ההערכה האנושית, החוקרים רצו לבדוק את ClarifyGPT בקנה מידה גדול יותר.</a:t>
            </a:r>
            <a:endParaRPr/>
          </a:p>
          <a:p>
            <a:pPr indent="0" lvl="0" marL="0" rtl="1" algn="r">
              <a:spcBef>
                <a:spcPts val="0"/>
              </a:spcBef>
              <a:spcAft>
                <a:spcPts val="0"/>
              </a:spcAft>
              <a:buNone/>
            </a:pPr>
            <a:r>
              <a:rPr lang="en"/>
              <a:t>במקום להביא משתמשים אמיתיים לענות על מאות שאלות הבהרה בכל benchmark, פתרון יקר, איטי וקשה לשחזור.</a:t>
            </a:r>
            <a:br>
              <a:rPr lang="en"/>
            </a:br>
            <a:r>
              <a:rPr lang="en"/>
              <a:t>הם בנו simulated feedback: מודל שמדמה את המשתמש ועונה על שאלות ההבהרה.</a:t>
            </a:r>
            <a:endParaRPr/>
          </a:p>
          <a:p>
            <a:pPr indent="0" lvl="0" marL="0" rtl="1" algn="r">
              <a:spcBef>
                <a:spcPts val="0"/>
              </a:spcBef>
              <a:spcAft>
                <a:spcPts val="0"/>
              </a:spcAft>
              <a:buNone/>
            </a:pPr>
            <a:r>
              <a:rPr lang="en"/>
              <a:t>חשוב להבין איך זה עובד: הסימולציה לא סתם מנחשת תשובה. היא מקבלת את הדרישה, את שאלות ההבהרה, וגם ground-truth tests, כלומר דוגמאות של קלט ופלט רצוי, ועל בסיס זה היא מייצרת תשובה כאילו היא המשתמש. </a:t>
            </a:r>
            <a:br>
              <a:rPr lang="en"/>
            </a:br>
            <a:r>
              <a:rPr lang="en"/>
              <a:t>גם כשלא משתמשים בבני אדם אמיתיים, ClarifyGPT עדיין משפר את Pass@1 לעומת ברירת המחדל בכ-11%.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e22b8199cf_1_4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e22b8199cf_1_4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עכשיו אחרי שראינו ש־ClarifyGPT עובד גם בסימולציה רחבה, החוקרים בודקים שאלה נוספת: כמה דוגמאות צריך לתת למודל בתוך הפרומפט כדי שהוא ידע לשאול שאלות הבהרה טובות? </a:t>
            </a:r>
            <a:br>
              <a:rPr lang="en"/>
            </a:br>
            <a:r>
              <a:rPr lang="en"/>
              <a:t>כאן החוקרים בודקים את ההשפעה של מספר הדוגמאות בפרומפט.</a:t>
            </a:r>
            <a:endParaRPr/>
          </a:p>
          <a:p>
            <a:pPr indent="0" lvl="0" marL="0" rtl="1" algn="r">
              <a:spcBef>
                <a:spcPts val="0"/>
              </a:spcBef>
              <a:spcAft>
                <a:spcPts val="0"/>
              </a:spcAft>
              <a:buClr>
                <a:schemeClr val="dk1"/>
              </a:buClr>
              <a:buSzPts val="1100"/>
              <a:buFont typeface="Arial"/>
              <a:buNone/>
            </a:pPr>
            <a:r>
              <a:rPr lang="en"/>
              <a:t>Zero-shot אומר שהמודל מקבל רק הוראה, בלי דוגמאות.</a:t>
            </a:r>
            <a:endParaRPr/>
          </a:p>
          <a:p>
            <a:pPr indent="0" lvl="0" marL="0" rtl="1" algn="r">
              <a:spcBef>
                <a:spcPts val="0"/>
              </a:spcBef>
              <a:spcAft>
                <a:spcPts val="0"/>
              </a:spcAft>
              <a:buClr>
                <a:schemeClr val="dk1"/>
              </a:buClr>
              <a:buSzPts val="1100"/>
              <a:buFont typeface="Arial"/>
              <a:buNone/>
            </a:pPr>
            <a:r>
              <a:rPr lang="en"/>
              <a:t>Few-shot אומר שמוסיפים לו דוגמאות שמראות איך נראית דרישה, איך נראות שאלות הבהרה, ואיך נראית תשובה מתאימה.</a:t>
            </a:r>
            <a:endParaRPr/>
          </a:p>
          <a:p>
            <a:pPr indent="0" lvl="0" marL="0" rtl="1" algn="r">
              <a:spcBef>
                <a:spcPts val="0"/>
              </a:spcBef>
              <a:spcAft>
                <a:spcPts val="0"/>
              </a:spcAft>
              <a:buClr>
                <a:schemeClr val="dk1"/>
              </a:buClr>
              <a:buSzPts val="1100"/>
              <a:buFont typeface="Arial"/>
              <a:buNone/>
            </a:pPr>
            <a:r>
              <a:rPr lang="en"/>
              <a:t>לפי התוצאות, ClarifyGPT עובד גם ב־zero-shot, אבל השיפור שם זניח. אצל GPT-4, הממוצע עולה רק מ־68.02% ל־68.59%.</a:t>
            </a:r>
            <a:endParaRPr/>
          </a:p>
          <a:p>
            <a:pPr indent="0" lvl="0" marL="0" rtl="1" algn="r">
              <a:spcBef>
                <a:spcPts val="0"/>
              </a:spcBef>
              <a:spcAft>
                <a:spcPts val="0"/>
              </a:spcAft>
              <a:buNone/>
            </a:pPr>
            <a:r>
              <a:rPr lang="en"/>
              <a:t>לעומת זאת, כשמוסיפים דוגמה אחת, יש קפיצה ל־72.14%. שתי דוגמאות מעלות ל־73.80%, ושלוש דוגמאות מגיעות ל־75.75%.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e22b8199cf_1_5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e22b8199cf_1_5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Clr>
                <a:schemeClr val="dk1"/>
              </a:buClr>
              <a:buSzPts val="1100"/>
              <a:buFont typeface="Arial"/>
              <a:buNone/>
            </a:pPr>
            <a:r>
              <a:rPr lang="en"/>
              <a:t>אחרי שראינו את התוצאות, חשוב לעצור ולבחון אותן בצורה ביקורתית.</a:t>
            </a:r>
            <a:endParaRPr/>
          </a:p>
          <a:p>
            <a:pPr indent="0" lvl="0" marL="0" rtl="1" algn="r">
              <a:spcBef>
                <a:spcPts val="0"/>
              </a:spcBef>
              <a:spcAft>
                <a:spcPts val="0"/>
              </a:spcAft>
              <a:buNone/>
            </a:pPr>
            <a:r>
              <a:rPr lang="en"/>
              <a:t>ClarifyGPT מציג רעיון חזק, במקום לנחש כוונה, לשאול שאלת הבהרה. אבל יש כמה מגבלות משמעותיות במחקר ובשיטה עצמה. </a:t>
            </a:r>
            <a:endParaRPr/>
          </a:p>
          <a:p>
            <a:pPr indent="-298450" lvl="0" marL="457200" rtl="1" algn="r">
              <a:spcBef>
                <a:spcPts val="0"/>
              </a:spcBef>
              <a:spcAft>
                <a:spcPts val="0"/>
              </a:spcAft>
              <a:buSzPts val="1100"/>
              <a:buAutoNum type="arabicPeriod"/>
            </a:pPr>
            <a:r>
              <a:rPr lang="en"/>
              <a:t>הראשונה היא סימולציית המתמשים. מודל הסימולציה קיבל ground truth test cases, מידע על הקלטים והפלטים הרצויים. אלה עזרו לו לענות באופן טוב על שאלות ההבהרה, אך לא בטוח שמשתמש אמיתי ידע לנסח את ההתנהגות הרצויה באותה מידה, ולכן קיים סיכוי שהסימולציה הציגה תוצאות אופטימיות מידי.</a:t>
            </a:r>
            <a:endParaRPr/>
          </a:p>
          <a:p>
            <a:pPr indent="-298450" lvl="0" marL="457200" rtl="1" algn="r">
              <a:spcBef>
                <a:spcPts val="0"/>
              </a:spcBef>
              <a:spcAft>
                <a:spcPts val="0"/>
              </a:spcAft>
              <a:buSzPts val="1100"/>
              <a:buAutoNum type="arabicPeriod"/>
            </a:pPr>
            <a:r>
              <a:rPr lang="en"/>
              <a:t>הבעיה השנייה שנתקלנו בה הייתה אופן הביצוע של ההערכה האנושית. השתתפו בה רק 10 אנשים, והם גם קיבלו test cases בדומה לסימולציה. אמנם זה נעשה כדי לעזור למשתתפים להבין את הפתרון הנכון ומה הם אמורים לענות לשאלות, אבל זה מגביל את היכולת להכליל את התוצאות למשתתפים בעולם האמיתי.</a:t>
            </a:r>
            <a:endParaRPr/>
          </a:p>
          <a:p>
            <a:pPr indent="-298450" lvl="0" marL="457200" rtl="1" algn="r">
              <a:spcBef>
                <a:spcPts val="0"/>
              </a:spcBef>
              <a:spcAft>
                <a:spcPts val="0"/>
              </a:spcAft>
              <a:buSzPts val="1100"/>
              <a:buAutoNum type="arabicPeriod"/>
            </a:pPr>
            <a:r>
              <a:rPr lang="en"/>
              <a:t>הבעיה השלישית היא בפתרון עצמו. השיטה מזהה עמימות בדרישה לפי התנהגות של קוד, אבל זה לא תמיד הדרך הנכונה. לפעמים ההבדל נובע מבאגים רגילים בקוד שנוצר, ולא מדרישה עמומה. וגם להפך, אם כמה פתרונות שונים נותנים אותו output על הטסטים, המערכת תפספס עמימות שקיימת.</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22b8199cf_1_5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e22b8199cf_1_5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כמו שהזכרנו קודם יש מגבלות לשיטה עצמה.</a:t>
            </a:r>
            <a:br>
              <a:rPr lang="en"/>
            </a:br>
            <a:r>
              <a:rPr lang="en"/>
              <a:t>ברגע שיש לנו משימה שלא עוקבת אחרי ה"תבנית" של clarifyGPT: מספר פתרונות קוד, קלטים לבדיקה, השוואת פלטים. </a:t>
            </a:r>
            <a:br>
              <a:rPr lang="en"/>
            </a:br>
            <a:r>
              <a:rPr lang="en"/>
              <a:t>למשל פונקציות ללא ערך מוחזר ברור כמו training loop או פעולות על רכיבי UI. במקרים כאלה אין פלט יחיד להשוואה.</a:t>
            </a:r>
            <a:br>
              <a:rPr lang="en"/>
            </a:br>
            <a:r>
              <a:rPr lang="en"/>
              <a:t>או עם עובדים עם קלטים שהם לא רק פרומפט, למשל קבצים, קריאות API או state של אפליקציה, יהיה למערכת קשה לייצר inputs לבדיקה.</a:t>
            </a:r>
            <a:br>
              <a:rPr lang="en"/>
            </a:br>
            <a:r>
              <a:rPr lang="en"/>
              <a:t>בנוסף יש תלות רבה באיכות המודל LLM. המודל יצטרך לדעת לא רק לכתוב קוד טוב אלא לנסח שאלת הבהרה טובה, שלא תהיה כללית מידי אבל גם שלא תשאל משהו שמובן מאליו, זה יעיק על המשתמש.</a:t>
            </a:r>
            <a:br>
              <a:rPr lang="en"/>
            </a:br>
            <a:r>
              <a:rPr lang="en"/>
              <a:t>לבסוף, כמו כל בעיה של AI ישנה את שאלת היעילות מול עלות. ClarifyGPT לא עושה קריאה אחת למודל. הוא מייצר טסטים, מייצר כמה פתרונות, מריץ אותם, מנתח הבדלים, מייצר שאלה, מחכה לתשובה, ואז מייצר קוד מחדש. זה יכול לשפר איכות, אבל זה גם מוסיף latency ועלות. לכן זה לא בהכרח מתאים לכל מצב, במיוחד כשצריך תגובה מהירה. </a:t>
            </a:r>
            <a:br>
              <a:rPr lang="en"/>
            </a:br>
            <a:r>
              <a:rPr lang="en"/>
              <a:t>בשורה התחתונה, לא כל כוונה של משתמש אפשר לתמצת ל- input-output testing. ככל שהמשימה יותר מערכתית, אינטראקטיבית או תלויה בהקשר חיצוני, דרושות התאמות נוספות.</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e22b8199cf_1_6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e22b8199cf_1_6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המאמר שהצגנו פורסם בסוף 2023, ומאז כמובן עולם הAI ו-LLM השתנה מקצה לקצה.</a:t>
            </a:r>
            <a:br>
              <a:rPr lang="en"/>
            </a:br>
            <a:r>
              <a:rPr lang="en"/>
              <a:t>המאמר עומד בדיוק בנקודת המפנה בתפיסה של חברות הAI לגבי איך אנחנו תופסים ומשתמשים בLLM. עד 2024 הפוקוס היה בעיקר תשובות מהירות כמה שיותר, גם על חשבון איכות ואף נכונות, כאשר מאז ועד היום למעשה הדגש הוא הבנה של כוונת המשתמש ואיכות התשובה הניתנת, לא רק ג'ינרוט קוד.</a:t>
            </a:r>
            <a:br>
              <a:rPr lang="en"/>
            </a:br>
            <a:r>
              <a:rPr lang="en"/>
              <a:t>אמנם קשה לקבוע שהמאמר הספציפי הזה הוא זה שקבע את הדגל של שינוי התפיסה, אבל הוא ללא ספק היה חלק מהתנועה שמשכה את התעשייה לשם, מעבר מ־single-pass generation, שבו המודל פשוט מחזיר קוד, לעולם שבו המודל מנהל תהליך: שואל, בודק, מתקן ומחדד את הדרישה.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e22e6d3aa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e22e6d3aa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נסכם את המאמר ב4 נקודות מרכזיות שרצינו להעביר:</a:t>
            </a:r>
            <a:endParaRPr/>
          </a:p>
          <a:p>
            <a:pPr indent="-298450" lvl="0" marL="457200" rtl="1" algn="r">
              <a:spcBef>
                <a:spcPts val="0"/>
              </a:spcBef>
              <a:spcAft>
                <a:spcPts val="0"/>
              </a:spcAft>
              <a:buSzPts val="1100"/>
              <a:buAutoNum type="arabicPeriod"/>
            </a:pPr>
            <a:r>
              <a:rPr lang="en"/>
              <a:t>Intent over syntax - גם בזמן פרסום המאמר וגם היום, האתגר המרכזי של תכנות בAI הוא לא האם הוא יידע לתת קוד נכון תחבירית, אלא האם הוא יבין את הכוונה שלי כמשתמש, זה מה שנקרא הintent gap</a:t>
            </a:r>
            <a:endParaRPr/>
          </a:p>
          <a:p>
            <a:pPr indent="-298450" lvl="0" marL="457200" rtl="1" algn="r">
              <a:spcBef>
                <a:spcPts val="0"/>
              </a:spcBef>
              <a:spcAft>
                <a:spcPts val="0"/>
              </a:spcAft>
              <a:buSzPts val="1100"/>
              <a:buAutoNum type="arabicPeriod"/>
            </a:pPr>
            <a:r>
              <a:rPr lang="en"/>
              <a:t>Selective Clarification - צריך להיות בררנים לגבי איזה שאלות אנחנו שואלים וכמה. שאלות הן יקרות, מאיטות את המערכת ובעיקר מעיקות. אבל, כשיש אינדיקציה אמיתית לעמימות, שאלה טובה יכולה לשפר משמעותית את איכות הפתרון, וזה האיזון שclarifyGPT מנסה להביא</a:t>
            </a:r>
            <a:endParaRPr/>
          </a:p>
          <a:p>
            <a:pPr indent="-298450" lvl="0" marL="457200" rtl="1" algn="r">
              <a:spcBef>
                <a:spcPts val="0"/>
              </a:spcBef>
              <a:spcAft>
                <a:spcPts val="0"/>
              </a:spcAft>
              <a:buSzPts val="1100"/>
              <a:buAutoNum type="arabicPeriod"/>
            </a:pPr>
            <a:r>
              <a:rPr lang="en"/>
              <a:t>Ambiguity through behavior - זה עיקר החידוש בפתרון המוצע, העמימות לא מזוהה מקריאת הטקסט של הפרומפט אלא בצורה עקיפה, הוא מייצר פתרונות שונים, מריץ אותם על מגוון קלטים ומשווה את הפלטים שנוצרו.</a:t>
            </a:r>
            <a:endParaRPr/>
          </a:p>
          <a:p>
            <a:pPr indent="-298450" lvl="0" marL="457200" rtl="1" algn="r">
              <a:spcBef>
                <a:spcPts val="0"/>
              </a:spcBef>
              <a:spcAft>
                <a:spcPts val="0"/>
              </a:spcAft>
              <a:buSzPts val="1100"/>
              <a:buAutoNum type="arabicPeriod"/>
            </a:pPr>
            <a:r>
              <a:rPr lang="en"/>
              <a:t>Understanding has a cost  - הנקודה הרביעית היא כמובן שלהבנה יש מחיר, כמו שציינו יש מספר שלבים בין כתיבת הדרישה הראשונית לבין החזרת קוד תקין למשתמש, כל שלב כזה תורם להבנת הכוונה אך עולה יותר ויותר כסף ככל שמעמיקים. השאלה האמיתית היא לא רק האם clarification עוזר אלא האם הוא שווה את המחיר.</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22b8199cf_9_0)">
  <p:cSld name="Generated (g3e22b8199cf_9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1.jp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0" Type="http://schemas.openxmlformats.org/officeDocument/2006/relationships/image" Target="../media/image2.png"/><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2.png"/><Relationship Id="rId9" Type="http://schemas.openxmlformats.org/officeDocument/2006/relationships/image" Target="../media/image29.png"/><Relationship Id="rId5" Type="http://schemas.openxmlformats.org/officeDocument/2006/relationships/image" Target="../media/image24.png"/><Relationship Id="rId6" Type="http://schemas.openxmlformats.org/officeDocument/2006/relationships/image" Target="../media/image28.png"/><Relationship Id="rId7" Type="http://schemas.openxmlformats.org/officeDocument/2006/relationships/image" Target="../media/image25.png"/><Relationship Id="rId8"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minimalist, high-quality digital art background featuring abstract glowing lines and nodes representing a neural network or source code structure. Use a light blue and white color palette with plenty of negative space." id="56" name="Google Shape;56;p14"/>
          <p:cNvPicPr preferRelativeResize="0"/>
          <p:nvPr/>
        </p:nvPicPr>
        <p:blipFill rotWithShape="1">
          <a:blip r:embed="rId3">
            <a:alphaModFix/>
          </a:blip>
          <a:srcRect b="0" l="612" r="622" t="0"/>
          <a:stretch/>
        </p:blipFill>
        <p:spPr>
          <a:xfrm>
            <a:off x="5334000" y="0"/>
            <a:ext cx="3810000" cy="5143500"/>
          </a:xfrm>
          <a:prstGeom prst="rect">
            <a:avLst/>
          </a:prstGeom>
          <a:noFill/>
          <a:ln>
            <a:noFill/>
          </a:ln>
        </p:spPr>
      </p:pic>
      <p:sp>
        <p:nvSpPr>
          <p:cNvPr id="57" name="Google Shape;57;p14"/>
          <p:cNvSpPr/>
          <p:nvPr/>
        </p:nvSpPr>
        <p:spPr>
          <a:xfrm>
            <a:off x="571500" y="1619250"/>
            <a:ext cx="28500" cy="1143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txBox="1"/>
          <p:nvPr/>
        </p:nvSpPr>
        <p:spPr>
          <a:xfrm>
            <a:off x="762000" y="762000"/>
            <a:ext cx="419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100">
                <a:solidFill>
                  <a:srgbClr val="3B82F6"/>
                </a:solidFill>
                <a:latin typeface="Inter SemiBold"/>
                <a:ea typeface="Inter SemiBold"/>
                <a:cs typeface="Inter SemiBold"/>
                <a:sym typeface="Inter SemiBold"/>
              </a:rPr>
              <a:t>Software Engineering Seminar</a:t>
            </a:r>
            <a:endParaRPr b="0" sz="1100">
              <a:solidFill>
                <a:srgbClr val="3B82F6"/>
              </a:solidFill>
              <a:latin typeface="Inter SemiBold"/>
              <a:ea typeface="Inter SemiBold"/>
              <a:cs typeface="Inter SemiBold"/>
              <a:sym typeface="Inter SemiBold"/>
            </a:endParaRPr>
          </a:p>
        </p:txBody>
      </p:sp>
      <p:sp>
        <p:nvSpPr>
          <p:cNvPr id="59" name="Google Shape;59;p14"/>
          <p:cNvSpPr txBox="1"/>
          <p:nvPr/>
        </p:nvSpPr>
        <p:spPr>
          <a:xfrm>
            <a:off x="762000" y="1333500"/>
            <a:ext cx="41910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520">
                <a:solidFill>
                  <a:srgbClr val="1A1A1A"/>
                </a:solidFill>
                <a:latin typeface="Inter ExtraBold"/>
                <a:ea typeface="Inter ExtraBold"/>
                <a:cs typeface="Inter ExtraBold"/>
                <a:sym typeface="Inter ExtraBold"/>
              </a:rPr>
              <a:t>ClarifyGPT: Empowering LLM-based Code Generation with Intention Clarification </a:t>
            </a:r>
            <a:endParaRPr b="0" sz="2520">
              <a:solidFill>
                <a:srgbClr val="1A1A1A"/>
              </a:solidFill>
              <a:latin typeface="Inter ExtraBold"/>
              <a:ea typeface="Inter ExtraBold"/>
              <a:cs typeface="Inter ExtraBold"/>
              <a:sym typeface="Inter ExtraBold"/>
            </a:endParaRPr>
          </a:p>
        </p:txBody>
      </p:sp>
      <p:sp>
        <p:nvSpPr>
          <p:cNvPr id="60" name="Google Shape;60;p14"/>
          <p:cNvSpPr txBox="1"/>
          <p:nvPr/>
        </p:nvSpPr>
        <p:spPr>
          <a:xfrm>
            <a:off x="762000" y="3143250"/>
            <a:ext cx="419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800">
                <a:solidFill>
                  <a:srgbClr val="4B5563"/>
                </a:solidFill>
                <a:latin typeface="Inter"/>
                <a:ea typeface="Inter"/>
                <a:cs typeface="Inter"/>
                <a:sym typeface="Inter"/>
              </a:rPr>
              <a:t>Overview of Mu et al. (2023)</a:t>
            </a:r>
            <a:endParaRPr b="0" sz="1800">
              <a:solidFill>
                <a:srgbClr val="4B5563"/>
              </a:solidFill>
              <a:latin typeface="Inter"/>
              <a:ea typeface="Inter"/>
              <a:cs typeface="Inter"/>
              <a:sym typeface="Inter"/>
            </a:endParaRPr>
          </a:p>
        </p:txBody>
      </p:sp>
      <p:pic>
        <p:nvPicPr>
          <p:cNvPr id="61" name="Google Shape;61;p14"/>
          <p:cNvPicPr preferRelativeResize="0"/>
          <p:nvPr/>
        </p:nvPicPr>
        <p:blipFill rotWithShape="1">
          <a:blip r:embed="rId4">
            <a:alphaModFix/>
          </a:blip>
          <a:srcRect b="0" l="0" r="0" t="0"/>
          <a:stretch/>
        </p:blipFill>
        <p:spPr>
          <a:xfrm>
            <a:off x="571500" y="4562475"/>
            <a:ext cx="762000" cy="19200"/>
          </a:xfrm>
          <a:prstGeom prst="rect">
            <a:avLst/>
          </a:prstGeom>
          <a:noFill/>
          <a:ln>
            <a:noFill/>
          </a:ln>
        </p:spPr>
      </p:pic>
      <p:sp>
        <p:nvSpPr>
          <p:cNvPr id="62" name="Google Shape;62;p14"/>
          <p:cNvSpPr txBox="1"/>
          <p:nvPr/>
        </p:nvSpPr>
        <p:spPr>
          <a:xfrm>
            <a:off x="762000" y="3626675"/>
            <a:ext cx="419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4B5563"/>
                </a:solidFill>
                <a:latin typeface="Inter"/>
                <a:ea typeface="Inter"/>
                <a:cs typeface="Inter"/>
                <a:sym typeface="Inter"/>
              </a:rPr>
              <a:t>Presentation by Tali Ratner and Liran Becher</a:t>
            </a:r>
            <a:endParaRPr b="0" sz="1300">
              <a:solidFill>
                <a:srgbClr val="4B5563"/>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8" name="Google Shape;68;p15"/>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69" name="Google Shape;69;p15"/>
          <p:cNvSpPr/>
          <p:nvPr/>
        </p:nvSpPr>
        <p:spPr>
          <a:xfrm>
            <a:off x="571500" y="381000"/>
            <a:ext cx="28500" cy="381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15"/>
          <p:cNvSpPr txBox="1"/>
          <p:nvPr/>
        </p:nvSpPr>
        <p:spPr>
          <a:xfrm>
            <a:off x="762000" y="381000"/>
            <a:ext cx="5715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Core Problem</a:t>
            </a:r>
            <a:endParaRPr b="0" sz="2400">
              <a:solidFill>
                <a:srgbClr val="1A1A1A"/>
              </a:solidFill>
              <a:latin typeface="Inter ExtraBold"/>
              <a:ea typeface="Inter ExtraBold"/>
              <a:cs typeface="Inter ExtraBold"/>
              <a:sym typeface="Inter ExtraBold"/>
            </a:endParaRPr>
          </a:p>
        </p:txBody>
      </p:sp>
      <p:sp>
        <p:nvSpPr>
          <p:cNvPr id="71" name="Google Shape;71;p15"/>
          <p:cNvSpPr txBox="1"/>
          <p:nvPr/>
        </p:nvSpPr>
        <p:spPr>
          <a:xfrm>
            <a:off x="571500" y="1143000"/>
            <a:ext cx="5371800" cy="3238500"/>
          </a:xfrm>
          <a:prstGeom prst="rect">
            <a:avLst/>
          </a:prstGeom>
          <a:noFill/>
          <a:ln>
            <a:noFill/>
          </a:ln>
        </p:spPr>
        <p:txBody>
          <a:bodyPr anchorCtr="0" anchor="t" bIns="0" lIns="0" spcFirstLastPara="1" rIns="0" wrap="square" tIns="0">
            <a:noAutofit/>
          </a:bodyPr>
          <a:lstStyle/>
          <a:p>
            <a:pPr indent="-317500" lvl="0" marL="457200" rtl="0" algn="l">
              <a:spcBef>
                <a:spcPts val="0"/>
              </a:spcBef>
              <a:spcAft>
                <a:spcPts val="0"/>
              </a:spcAft>
              <a:buClr>
                <a:srgbClr val="4B5563"/>
              </a:buClr>
              <a:buSzPts val="1400"/>
              <a:buFont typeface="Inter"/>
              <a:buChar char="●"/>
            </a:pPr>
            <a:r>
              <a:rPr b="0" lang="en">
                <a:solidFill>
                  <a:srgbClr val="4B5563"/>
                </a:solidFill>
                <a:latin typeface="Inter"/>
                <a:ea typeface="Inter"/>
                <a:cs typeface="Inter"/>
                <a:sym typeface="Inter"/>
              </a:rPr>
              <a:t>LLMs often generate code from incomplete or ambiguous prompts</a:t>
            </a:r>
            <a:endParaRPr b="0">
              <a:solidFill>
                <a:srgbClr val="4B5563"/>
              </a:solidFill>
              <a:latin typeface="Inter"/>
              <a:ea typeface="Inter"/>
              <a:cs typeface="Inter"/>
              <a:sym typeface="Inter"/>
            </a:endParaRPr>
          </a:p>
          <a:p>
            <a:pPr indent="-317500" lvl="0" marL="457200" rtl="0" algn="l">
              <a:spcBef>
                <a:spcPts val="900"/>
              </a:spcBef>
              <a:spcAft>
                <a:spcPts val="0"/>
              </a:spcAft>
              <a:buClr>
                <a:srgbClr val="4B5563"/>
              </a:buClr>
              <a:buSzPts val="1400"/>
              <a:buFont typeface="Inter"/>
              <a:buChar char="●"/>
            </a:pPr>
            <a:r>
              <a:rPr b="0" lang="en">
                <a:solidFill>
                  <a:srgbClr val="4B5563"/>
                </a:solidFill>
                <a:latin typeface="Inter"/>
                <a:ea typeface="Inter"/>
                <a:cs typeface="Inter"/>
                <a:sym typeface="Inter"/>
              </a:rPr>
              <a:t>They usually do not ask users to clarify intent</a:t>
            </a:r>
            <a:endParaRPr b="0">
              <a:solidFill>
                <a:srgbClr val="4B5563"/>
              </a:solidFill>
              <a:latin typeface="Inter"/>
              <a:ea typeface="Inter"/>
              <a:cs typeface="Inter"/>
              <a:sym typeface="Inter"/>
            </a:endParaRPr>
          </a:p>
          <a:p>
            <a:pPr indent="-317500" lvl="0" marL="457200" rtl="0" algn="l">
              <a:spcBef>
                <a:spcPts val="900"/>
              </a:spcBef>
              <a:spcAft>
                <a:spcPts val="0"/>
              </a:spcAft>
              <a:buClr>
                <a:srgbClr val="4B5563"/>
              </a:buClr>
              <a:buSzPts val="1400"/>
              <a:buFont typeface="Inter"/>
              <a:buChar char="●"/>
            </a:pPr>
            <a:r>
              <a:rPr b="0" lang="en">
                <a:solidFill>
                  <a:srgbClr val="4B5563"/>
                </a:solidFill>
                <a:latin typeface="Inter"/>
                <a:ea typeface="Inter"/>
                <a:cs typeface="Inter"/>
                <a:sym typeface="Inter"/>
              </a:rPr>
              <a:t>Example: “Write a function to sort a list”</a:t>
            </a:r>
            <a:endParaRPr b="0">
              <a:solidFill>
                <a:srgbClr val="4B5563"/>
              </a:solidFill>
              <a:latin typeface="Inter"/>
              <a:ea typeface="Inter"/>
              <a:cs typeface="Inter"/>
              <a:sym typeface="Inter"/>
            </a:endParaRPr>
          </a:p>
          <a:p>
            <a:pPr indent="-317500" lvl="0" marL="457200" rtl="0" algn="l">
              <a:spcBef>
                <a:spcPts val="900"/>
              </a:spcBef>
              <a:spcAft>
                <a:spcPts val="0"/>
              </a:spcAft>
              <a:buClr>
                <a:srgbClr val="4B5563"/>
              </a:buClr>
              <a:buSzPts val="1400"/>
              <a:buFont typeface="Inter"/>
              <a:buChar char="●"/>
            </a:pPr>
            <a:r>
              <a:rPr b="0" lang="en">
                <a:solidFill>
                  <a:srgbClr val="4B5563"/>
                </a:solidFill>
                <a:latin typeface="Inter"/>
                <a:ea typeface="Inter"/>
                <a:cs typeface="Inter"/>
                <a:sym typeface="Inter"/>
              </a:rPr>
              <a:t>Missing detail: ascending or descending order?</a:t>
            </a:r>
            <a:endParaRPr b="0">
              <a:solidFill>
                <a:srgbClr val="4B5563"/>
              </a:solidFill>
              <a:latin typeface="Inter"/>
              <a:ea typeface="Inter"/>
              <a:cs typeface="Inter"/>
              <a:sym typeface="Inter"/>
            </a:endParaRPr>
          </a:p>
          <a:p>
            <a:pPr indent="-317500" lvl="0" marL="457200" rtl="0" algn="l">
              <a:spcBef>
                <a:spcPts val="900"/>
              </a:spcBef>
              <a:spcAft>
                <a:spcPts val="900"/>
              </a:spcAft>
              <a:buClr>
                <a:srgbClr val="4B5563"/>
              </a:buClr>
              <a:buSzPts val="1400"/>
              <a:buFont typeface="Inter"/>
              <a:buChar char="●"/>
            </a:pPr>
            <a:r>
              <a:rPr b="0" lang="en">
                <a:solidFill>
                  <a:srgbClr val="4B5563"/>
                </a:solidFill>
                <a:latin typeface="Inter"/>
                <a:ea typeface="Inter"/>
                <a:cs typeface="Inter"/>
                <a:sym typeface="Inter"/>
              </a:rPr>
              <a:t>Result: code may be syntactically correct but semantically wrong</a:t>
            </a:r>
            <a:endParaRPr b="0">
              <a:solidFill>
                <a:srgbClr val="4B5563"/>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7" name="Google Shape;77;p16"/>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78" name="Google Shape;78;p16"/>
          <p:cNvSpPr/>
          <p:nvPr/>
        </p:nvSpPr>
        <p:spPr>
          <a:xfrm>
            <a:off x="571500" y="381000"/>
            <a:ext cx="28500" cy="381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6"/>
          <p:cNvSpPr txBox="1"/>
          <p:nvPr/>
        </p:nvSpPr>
        <p:spPr>
          <a:xfrm>
            <a:off x="762000" y="381000"/>
            <a:ext cx="666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Why Ambiguity Matters in Code Generation</a:t>
            </a:r>
            <a:endParaRPr b="0" sz="2400">
              <a:solidFill>
                <a:srgbClr val="1A1A1A"/>
              </a:solidFill>
              <a:latin typeface="Inter ExtraBold"/>
              <a:ea typeface="Inter ExtraBold"/>
              <a:cs typeface="Inter ExtraBold"/>
              <a:sym typeface="Inter ExtraBold"/>
            </a:endParaRPr>
          </a:p>
        </p:txBody>
      </p:sp>
      <p:sp>
        <p:nvSpPr>
          <p:cNvPr id="80" name="Google Shape;80;p16"/>
          <p:cNvSpPr txBox="1"/>
          <p:nvPr/>
        </p:nvSpPr>
        <p:spPr>
          <a:xfrm>
            <a:off x="571500" y="1143000"/>
            <a:ext cx="40959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4B5563"/>
                </a:solidFill>
                <a:latin typeface="Inter"/>
                <a:ea typeface="Inter"/>
                <a:cs typeface="Inter"/>
                <a:sym typeface="Inter"/>
              </a:rPr>
              <a:t>• Real-world requirements are often incomplete</a:t>
            </a:r>
            <a:endParaRPr b="0" sz="1250">
              <a:solidFill>
                <a:srgbClr val="4B5563"/>
              </a:solidFill>
              <a:latin typeface="Inter"/>
              <a:ea typeface="Inter"/>
              <a:cs typeface="Inter"/>
              <a:sym typeface="Inter"/>
            </a:endParaRPr>
          </a:p>
          <a:p>
            <a:pPr indent="0" lvl="0" marL="0" rtl="0" algn="l">
              <a:spcBef>
                <a:spcPts val="1050"/>
              </a:spcBef>
              <a:spcAft>
                <a:spcPts val="0"/>
              </a:spcAft>
              <a:buNone/>
            </a:pPr>
            <a:r>
              <a:rPr b="0" lang="en" sz="1250">
                <a:solidFill>
                  <a:srgbClr val="4B5563"/>
                </a:solidFill>
                <a:latin typeface="Inter"/>
                <a:ea typeface="Inter"/>
                <a:cs typeface="Inter"/>
                <a:sym typeface="Inter"/>
              </a:rPr>
              <a:t>• Developers normally ask follow-up questions</a:t>
            </a:r>
            <a:endParaRPr b="0" sz="1250">
              <a:solidFill>
                <a:srgbClr val="4B5563"/>
              </a:solidFill>
              <a:latin typeface="Inter"/>
              <a:ea typeface="Inter"/>
              <a:cs typeface="Inter"/>
              <a:sym typeface="Inter"/>
            </a:endParaRPr>
          </a:p>
          <a:p>
            <a:pPr indent="0" lvl="0" marL="0" rtl="0" algn="l">
              <a:spcBef>
                <a:spcPts val="1050"/>
              </a:spcBef>
              <a:spcAft>
                <a:spcPts val="0"/>
              </a:spcAft>
              <a:buNone/>
            </a:pPr>
            <a:r>
              <a:rPr b="0" lang="en" sz="1250">
                <a:solidFill>
                  <a:srgbClr val="4B5563"/>
                </a:solidFill>
                <a:latin typeface="Inter"/>
                <a:ea typeface="Inter"/>
                <a:cs typeface="Inter"/>
                <a:sym typeface="Inter"/>
              </a:rPr>
              <a:t>• LLMs silently choose one interpretation</a:t>
            </a:r>
            <a:endParaRPr b="0" sz="1250">
              <a:solidFill>
                <a:srgbClr val="4B5563"/>
              </a:solidFill>
              <a:latin typeface="Inter"/>
              <a:ea typeface="Inter"/>
              <a:cs typeface="Inter"/>
              <a:sym typeface="Inter"/>
            </a:endParaRPr>
          </a:p>
          <a:p>
            <a:pPr indent="0" lvl="0" marL="0" rtl="0" algn="l">
              <a:spcBef>
                <a:spcPts val="1050"/>
              </a:spcBef>
              <a:spcAft>
                <a:spcPts val="0"/>
              </a:spcAft>
              <a:buNone/>
            </a:pPr>
            <a:r>
              <a:rPr b="0" lang="en" sz="1250">
                <a:solidFill>
                  <a:srgbClr val="4B5563"/>
                </a:solidFill>
                <a:latin typeface="Inter"/>
                <a:ea typeface="Inter"/>
                <a:cs typeface="Inter"/>
                <a:sym typeface="Inter"/>
              </a:rPr>
              <a:t>• This creates hidden intent mismatch</a:t>
            </a:r>
            <a:endParaRPr b="0" sz="1250">
              <a:solidFill>
                <a:srgbClr val="4B5563"/>
              </a:solidFill>
              <a:latin typeface="Inter"/>
              <a:ea typeface="Inter"/>
              <a:cs typeface="Inter"/>
              <a:sym typeface="Inter"/>
            </a:endParaRPr>
          </a:p>
          <a:p>
            <a:pPr indent="0" lvl="0" marL="0" rtl="0" algn="l">
              <a:spcBef>
                <a:spcPts val="1050"/>
              </a:spcBef>
              <a:spcAft>
                <a:spcPts val="1050"/>
              </a:spcAft>
              <a:buNone/>
            </a:pPr>
            <a:r>
              <a:rPr b="0" lang="en" sz="1250">
                <a:solidFill>
                  <a:srgbClr val="4B5563"/>
                </a:solidFill>
                <a:latin typeface="Inter"/>
                <a:ea typeface="Inter"/>
                <a:cs typeface="Inter"/>
                <a:sym typeface="Inter"/>
              </a:rPr>
              <a:t>• Clarification can improve reliability and user alignment</a:t>
            </a:r>
            <a:endParaRPr b="0" sz="1250">
              <a:solidFill>
                <a:srgbClr val="4B5563"/>
              </a:solidFill>
              <a:latin typeface="Inter"/>
              <a:ea typeface="Inter"/>
              <a:cs typeface="Inter"/>
              <a:sym typeface="Inter"/>
            </a:endParaRPr>
          </a:p>
        </p:txBody>
      </p:sp>
      <p:grpSp>
        <p:nvGrpSpPr>
          <p:cNvPr id="81" name="Google Shape;81;p16"/>
          <p:cNvGrpSpPr/>
          <p:nvPr/>
        </p:nvGrpSpPr>
        <p:grpSpPr>
          <a:xfrm>
            <a:off x="4953000" y="1238250"/>
            <a:ext cx="3810000" cy="2857500"/>
            <a:chOff x="0" y="0"/>
            <a:chExt cx="3810000" cy="2857500"/>
          </a:xfrm>
        </p:grpSpPr>
        <p:sp>
          <p:nvSpPr>
            <p:cNvPr id="82" name="Google Shape;82;p16"/>
            <p:cNvSpPr/>
            <p:nvPr/>
          </p:nvSpPr>
          <p:spPr>
            <a:xfrm>
              <a:off x="0" y="0"/>
              <a:ext cx="3810000" cy="2857500"/>
            </a:xfrm>
            <a:prstGeom prst="roundRect">
              <a:avLst>
                <a:gd fmla="val 4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6"/>
            <p:cNvSpPr/>
            <p:nvPr/>
          </p:nvSpPr>
          <p:spPr>
            <a:xfrm>
              <a:off x="190500" y="571500"/>
              <a:ext cx="1524000" cy="1714500"/>
            </a:xfrm>
            <a:prstGeom prst="roundRect">
              <a:avLst>
                <a:gd fmla="val 5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 name="Google Shape;84;p16"/>
            <p:cNvSpPr/>
            <p:nvPr/>
          </p:nvSpPr>
          <p:spPr>
            <a:xfrm>
              <a:off x="2095500" y="571500"/>
              <a:ext cx="1524000" cy="1714500"/>
            </a:xfrm>
            <a:prstGeom prst="roundRect">
              <a:avLst>
                <a:gd fmla="val 5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5" name="Google Shape;85;p16"/>
            <p:cNvPicPr preferRelativeResize="0"/>
            <p:nvPr/>
          </p:nvPicPr>
          <p:blipFill rotWithShape="1">
            <a:blip r:embed="rId4">
              <a:alphaModFix/>
            </a:blip>
            <a:srcRect b="0" l="0" r="0" t="0"/>
            <a:stretch/>
          </p:blipFill>
          <p:spPr>
            <a:xfrm>
              <a:off x="942975" y="2381250"/>
              <a:ext cx="1924200" cy="104700"/>
            </a:xfrm>
            <a:prstGeom prst="rect">
              <a:avLst/>
            </a:prstGeom>
            <a:noFill/>
            <a:ln>
              <a:noFill/>
            </a:ln>
          </p:spPr>
        </p:pic>
        <p:sp>
          <p:nvSpPr>
            <p:cNvPr id="86" name="Google Shape;86;p16"/>
            <p:cNvSpPr/>
            <p:nvPr/>
          </p:nvSpPr>
          <p:spPr>
            <a:xfrm>
              <a:off x="762000" y="285750"/>
              <a:ext cx="381000" cy="381000"/>
            </a:xfrm>
            <a:prstGeom prst="ellipse">
              <a:avLst/>
            </a:prstGeom>
            <a:solidFill>
              <a:srgbClr val="3B82F6">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7" name="Google Shape;87;p16"/>
            <p:cNvPicPr preferRelativeResize="0"/>
            <p:nvPr/>
          </p:nvPicPr>
          <p:blipFill rotWithShape="1">
            <a:blip r:embed="rId5">
              <a:alphaModFix/>
            </a:blip>
            <a:srcRect b="0" l="0" r="0" t="0"/>
            <a:stretch/>
          </p:blipFill>
          <p:spPr>
            <a:xfrm>
              <a:off x="904875" y="381000"/>
              <a:ext cx="95400" cy="190500"/>
            </a:xfrm>
            <a:prstGeom prst="rect">
              <a:avLst/>
            </a:prstGeom>
            <a:noFill/>
            <a:ln>
              <a:noFill/>
            </a:ln>
          </p:spPr>
        </p:pic>
        <p:sp>
          <p:nvSpPr>
            <p:cNvPr id="88" name="Google Shape;88;p16"/>
            <p:cNvSpPr/>
            <p:nvPr/>
          </p:nvSpPr>
          <p:spPr>
            <a:xfrm>
              <a:off x="2667000" y="285750"/>
              <a:ext cx="381000" cy="381000"/>
            </a:xfrm>
            <a:prstGeom prst="ellipse">
              <a:avLst/>
            </a:prstGeom>
            <a:solidFill>
              <a:srgbClr val="10B981">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9" name="Google Shape;89;p16"/>
            <p:cNvPicPr preferRelativeResize="0"/>
            <p:nvPr/>
          </p:nvPicPr>
          <p:blipFill rotWithShape="1">
            <a:blip r:embed="rId6">
              <a:alphaModFix/>
            </a:blip>
            <a:srcRect b="0" l="0" r="0" t="0"/>
            <a:stretch/>
          </p:blipFill>
          <p:spPr>
            <a:xfrm>
              <a:off x="2762250" y="404813"/>
              <a:ext cx="190500" cy="142800"/>
            </a:xfrm>
            <a:prstGeom prst="rect">
              <a:avLst/>
            </a:prstGeom>
            <a:noFill/>
            <a:ln>
              <a:noFill/>
            </a:ln>
          </p:spPr>
        </p:pic>
        <p:sp>
          <p:nvSpPr>
            <p:cNvPr id="90" name="Google Shape;90;p16"/>
            <p:cNvSpPr txBox="1"/>
            <p:nvPr/>
          </p:nvSpPr>
          <p:spPr>
            <a:xfrm>
              <a:off x="190500" y="190500"/>
              <a:ext cx="15240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A1A1A"/>
                  </a:solidFill>
                  <a:latin typeface="Inter"/>
                  <a:ea typeface="Inter"/>
                  <a:cs typeface="Inter"/>
                  <a:sym typeface="Inter"/>
                </a:rPr>
                <a:t>HUMAN DEVELOPER</a:t>
              </a:r>
              <a:endParaRPr b="1" sz="1000">
                <a:solidFill>
                  <a:srgbClr val="1A1A1A"/>
                </a:solidFill>
                <a:latin typeface="Inter"/>
                <a:ea typeface="Inter"/>
                <a:cs typeface="Inter"/>
                <a:sym typeface="Inter"/>
              </a:endParaRPr>
            </a:p>
          </p:txBody>
        </p:sp>
        <p:sp>
          <p:nvSpPr>
            <p:cNvPr id="91" name="Google Shape;91;p16"/>
            <p:cNvSpPr txBox="1"/>
            <p:nvPr/>
          </p:nvSpPr>
          <p:spPr>
            <a:xfrm>
              <a:off x="2095500" y="190500"/>
              <a:ext cx="15240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A1A1A"/>
                  </a:solidFill>
                  <a:latin typeface="Inter"/>
                  <a:ea typeface="Inter"/>
                  <a:cs typeface="Inter"/>
                  <a:sym typeface="Inter"/>
                </a:rPr>
                <a:t>STANDARD LLM</a:t>
              </a:r>
              <a:endParaRPr b="1" sz="1000">
                <a:solidFill>
                  <a:srgbClr val="1A1A1A"/>
                </a:solidFill>
                <a:latin typeface="Inter"/>
                <a:ea typeface="Inter"/>
                <a:cs typeface="Inter"/>
                <a:sym typeface="Inter"/>
              </a:endParaRPr>
            </a:p>
          </p:txBody>
        </p:sp>
        <p:sp>
          <p:nvSpPr>
            <p:cNvPr id="92" name="Google Shape;92;p16"/>
            <p:cNvSpPr txBox="1"/>
            <p:nvPr/>
          </p:nvSpPr>
          <p:spPr>
            <a:xfrm>
              <a:off x="285750" y="666750"/>
              <a:ext cx="1333500" cy="1524000"/>
            </a:xfrm>
            <a:prstGeom prst="rect">
              <a:avLst/>
            </a:prstGeom>
            <a:noFill/>
            <a:ln>
              <a:noFill/>
            </a:ln>
          </p:spPr>
          <p:txBody>
            <a:bodyPr anchorCtr="0" anchor="ctr" bIns="0" lIns="0" spcFirstLastPara="1" rIns="0" wrap="square" tIns="0">
              <a:noAutofit/>
            </a:bodyPr>
            <a:lstStyle/>
            <a:p>
              <a:pPr indent="0" lvl="0" marL="0" rtl="0" algn="ctr">
                <a:spcBef>
                  <a:spcPts val="750"/>
                </a:spcBef>
                <a:spcAft>
                  <a:spcPts val="0"/>
                </a:spcAft>
                <a:buNone/>
              </a:pPr>
              <a:r>
                <a:rPr lang="en" sz="900">
                  <a:solidFill>
                    <a:srgbClr val="4B5563"/>
                  </a:solidFill>
                  <a:latin typeface="Inter"/>
                  <a:ea typeface="Inter"/>
                  <a:cs typeface="Inter"/>
                  <a:sym typeface="Inter"/>
                </a:rPr>
                <a:t>"Sort this list."</a:t>
              </a:r>
              <a:endParaRPr sz="900">
                <a:solidFill>
                  <a:srgbClr val="4B5563"/>
                </a:solidFill>
                <a:latin typeface="Inter"/>
                <a:ea typeface="Inter"/>
                <a:cs typeface="Inter"/>
                <a:sym typeface="Inter"/>
              </a:endParaRPr>
            </a:p>
            <a:p>
              <a:pPr indent="0" lvl="0" marL="0" rtl="0" algn="ctr">
                <a:spcBef>
                  <a:spcPts val="1500"/>
                </a:spcBef>
                <a:spcAft>
                  <a:spcPts val="0"/>
                </a:spcAft>
                <a:buNone/>
              </a:pPr>
              <a:r>
                <a:rPr b="1" lang="en" sz="900">
                  <a:solidFill>
                    <a:srgbClr val="10B981"/>
                  </a:solidFill>
                  <a:latin typeface="Inter"/>
                  <a:ea typeface="Inter"/>
                  <a:cs typeface="Inter"/>
                  <a:sym typeface="Inter"/>
                </a:rPr>
                <a:t>"Wait, ascending or descending?"</a:t>
              </a:r>
              <a:endParaRPr b="1" sz="900">
                <a:solidFill>
                  <a:srgbClr val="10B981"/>
                </a:solidFill>
                <a:latin typeface="Inter"/>
                <a:ea typeface="Inter"/>
                <a:cs typeface="Inter"/>
                <a:sym typeface="Inter"/>
              </a:endParaRPr>
            </a:p>
          </p:txBody>
        </p:sp>
        <p:sp>
          <p:nvSpPr>
            <p:cNvPr id="93" name="Google Shape;93;p16"/>
            <p:cNvSpPr txBox="1"/>
            <p:nvPr/>
          </p:nvSpPr>
          <p:spPr>
            <a:xfrm>
              <a:off x="2190750" y="666750"/>
              <a:ext cx="1333500" cy="1524000"/>
            </a:xfrm>
            <a:prstGeom prst="rect">
              <a:avLst/>
            </a:prstGeom>
            <a:noFill/>
            <a:ln>
              <a:noFill/>
            </a:ln>
          </p:spPr>
          <p:txBody>
            <a:bodyPr anchorCtr="0" anchor="ctr" bIns="0" lIns="0" spcFirstLastPara="1" rIns="0" wrap="square" tIns="0">
              <a:noAutofit/>
            </a:bodyPr>
            <a:lstStyle/>
            <a:p>
              <a:pPr indent="0" lvl="0" marL="0" rtl="0" algn="ctr">
                <a:spcBef>
                  <a:spcPts val="750"/>
                </a:spcBef>
                <a:spcAft>
                  <a:spcPts val="0"/>
                </a:spcAft>
                <a:buNone/>
              </a:pPr>
              <a:r>
                <a:rPr lang="en" sz="900">
                  <a:solidFill>
                    <a:srgbClr val="4B5563"/>
                  </a:solidFill>
                  <a:latin typeface="Inter"/>
                  <a:ea typeface="Inter"/>
                  <a:cs typeface="Inter"/>
                  <a:sym typeface="Inter"/>
                </a:rPr>
                <a:t>"Sort this list."</a:t>
              </a:r>
              <a:endParaRPr sz="900">
                <a:solidFill>
                  <a:srgbClr val="4B5563"/>
                </a:solidFill>
                <a:latin typeface="Inter"/>
                <a:ea typeface="Inter"/>
                <a:cs typeface="Inter"/>
                <a:sym typeface="Inter"/>
              </a:endParaRPr>
            </a:p>
            <a:p>
              <a:pPr indent="0" lvl="0" marL="0" rtl="0" algn="ctr">
                <a:spcBef>
                  <a:spcPts val="1500"/>
                </a:spcBef>
                <a:spcAft>
                  <a:spcPts val="0"/>
                </a:spcAft>
                <a:buNone/>
              </a:pPr>
              <a:r>
                <a:rPr b="1" lang="en" sz="900">
                  <a:solidFill>
                    <a:srgbClr val="EF4444"/>
                  </a:solidFill>
                  <a:latin typeface="Inter"/>
                  <a:ea typeface="Inter"/>
                  <a:cs typeface="Inter"/>
                  <a:sym typeface="Inter"/>
                </a:rPr>
                <a:t>(Silent Commitment)</a:t>
              </a:r>
              <a:endParaRPr b="1" sz="900">
                <a:solidFill>
                  <a:srgbClr val="EF4444"/>
                </a:solidFill>
                <a:latin typeface="Inter"/>
                <a:ea typeface="Inter"/>
                <a:cs typeface="Inter"/>
                <a:sym typeface="Inter"/>
              </a:endParaRPr>
            </a:p>
            <a:p>
              <a:pPr indent="0" lvl="0" marL="0" rtl="0" algn="ctr">
                <a:spcBef>
                  <a:spcPts val="375"/>
                </a:spcBef>
                <a:spcAft>
                  <a:spcPts val="0"/>
                </a:spcAft>
                <a:buNone/>
              </a:pPr>
              <a:r>
                <a:rPr lang="en" sz="900">
                  <a:solidFill>
                    <a:srgbClr val="4B5563"/>
                  </a:solidFill>
                  <a:latin typeface="Inter"/>
                  <a:ea typeface="Inter"/>
                  <a:cs typeface="Inter"/>
                  <a:sym typeface="Inter"/>
                </a:rPr>
                <a:t>Assumes Ascending</a:t>
              </a:r>
              <a:endParaRPr sz="900">
                <a:solidFill>
                  <a:srgbClr val="4B5563"/>
                </a:solidFill>
                <a:latin typeface="Inter"/>
                <a:ea typeface="Inter"/>
                <a:cs typeface="Inter"/>
                <a:sym typeface="Inter"/>
              </a:endParaRPr>
            </a:p>
          </p:txBody>
        </p:sp>
        <p:sp>
          <p:nvSpPr>
            <p:cNvPr id="94" name="Google Shape;94;p16"/>
            <p:cNvSpPr/>
            <p:nvPr/>
          </p:nvSpPr>
          <p:spPr>
            <a:xfrm>
              <a:off x="1047750" y="2571750"/>
              <a:ext cx="1714500" cy="190500"/>
            </a:xfrm>
            <a:prstGeom prst="roundRect">
              <a:avLst>
                <a:gd fmla="val 2000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6"/>
            <p:cNvSpPr txBox="1"/>
            <p:nvPr/>
          </p:nvSpPr>
          <p:spPr>
            <a:xfrm>
              <a:off x="1047750" y="2571750"/>
              <a:ext cx="1714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00">
                  <a:solidFill>
                    <a:srgbClr val="94A3B8"/>
                  </a:solidFill>
                  <a:latin typeface="Inter SemiBold"/>
                  <a:ea typeface="Inter SemiBold"/>
                  <a:cs typeface="Inter SemiBold"/>
                  <a:sym typeface="Inter SemiBold"/>
                </a:rPr>
                <a:t>INTERACTIVE VS. STOCHASTIC</a:t>
              </a:r>
              <a:endParaRPr b="0" sz="700">
                <a:solidFill>
                  <a:srgbClr val="94A3B8"/>
                </a:solidFill>
                <a:latin typeface="Inter SemiBold"/>
                <a:ea typeface="Inter SemiBold"/>
                <a:cs typeface="Inter SemiBold"/>
                <a:sym typeface="Inter SemiBol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1" name="Google Shape;101;p17"/>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102" name="Google Shape;102;p17"/>
          <p:cNvSpPr/>
          <p:nvPr/>
        </p:nvSpPr>
        <p:spPr>
          <a:xfrm>
            <a:off x="571500" y="381000"/>
            <a:ext cx="28500" cy="381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7"/>
          <p:cNvSpPr txBox="1"/>
          <p:nvPr/>
        </p:nvSpPr>
        <p:spPr>
          <a:xfrm>
            <a:off x="762000" y="381000"/>
            <a:ext cx="666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Two Core Challenges</a:t>
            </a:r>
            <a:endParaRPr b="0" sz="2400">
              <a:solidFill>
                <a:srgbClr val="1A1A1A"/>
              </a:solidFill>
              <a:latin typeface="Inter ExtraBold"/>
              <a:ea typeface="Inter ExtraBold"/>
              <a:cs typeface="Inter ExtraBold"/>
              <a:sym typeface="Inter ExtraBold"/>
            </a:endParaRPr>
          </a:p>
        </p:txBody>
      </p:sp>
      <p:grpSp>
        <p:nvGrpSpPr>
          <p:cNvPr id="104" name="Google Shape;104;p17"/>
          <p:cNvGrpSpPr/>
          <p:nvPr/>
        </p:nvGrpSpPr>
        <p:grpSpPr>
          <a:xfrm>
            <a:off x="571500" y="1238250"/>
            <a:ext cx="3143400" cy="3048000"/>
            <a:chOff x="571500" y="1238250"/>
            <a:chExt cx="3143400" cy="3048000"/>
          </a:xfrm>
        </p:grpSpPr>
        <p:sp>
          <p:nvSpPr>
            <p:cNvPr id="105" name="Google Shape;105;p17"/>
            <p:cNvSpPr/>
            <p:nvPr/>
          </p:nvSpPr>
          <p:spPr>
            <a:xfrm>
              <a:off x="571500" y="1238250"/>
              <a:ext cx="31434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7"/>
            <p:cNvSpPr txBox="1"/>
            <p:nvPr/>
          </p:nvSpPr>
          <p:spPr>
            <a:xfrm>
              <a:off x="857250" y="1528953"/>
              <a:ext cx="476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3060">
                  <a:solidFill>
                    <a:srgbClr val="3B82F6"/>
                  </a:solidFill>
                  <a:latin typeface="Material Icons"/>
                  <a:ea typeface="Material Icons"/>
                  <a:cs typeface="Material Icons"/>
                  <a:sym typeface="Material Icons"/>
                </a:rPr>
                <a:t>schedule</a:t>
              </a:r>
              <a:endParaRPr sz="3060">
                <a:solidFill>
                  <a:srgbClr val="3B82F6"/>
                </a:solidFill>
                <a:latin typeface="Material Icons"/>
                <a:ea typeface="Material Icons"/>
                <a:cs typeface="Material Icons"/>
                <a:sym typeface="Material Icons"/>
              </a:endParaRPr>
            </a:p>
          </p:txBody>
        </p:sp>
        <p:sp>
          <p:nvSpPr>
            <p:cNvPr id="107" name="Google Shape;107;p17"/>
            <p:cNvSpPr txBox="1"/>
            <p:nvPr/>
          </p:nvSpPr>
          <p:spPr>
            <a:xfrm>
              <a:off x="1381125" y="1476375"/>
              <a:ext cx="2095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3B82F6"/>
                  </a:solidFill>
                  <a:latin typeface="Inter"/>
                  <a:ea typeface="Inter"/>
                  <a:cs typeface="Inter"/>
                  <a:sym typeface="Inter"/>
                </a:rPr>
                <a:t>When to Ask</a:t>
              </a:r>
              <a:endParaRPr b="1" sz="1600">
                <a:solidFill>
                  <a:srgbClr val="3B82F6"/>
                </a:solidFill>
                <a:latin typeface="Inter"/>
                <a:ea typeface="Inter"/>
                <a:cs typeface="Inter"/>
                <a:sym typeface="Inter"/>
              </a:endParaRPr>
            </a:p>
          </p:txBody>
        </p:sp>
        <p:sp>
          <p:nvSpPr>
            <p:cNvPr id="108" name="Google Shape;108;p17"/>
            <p:cNvSpPr txBox="1"/>
            <p:nvPr/>
          </p:nvSpPr>
          <p:spPr>
            <a:xfrm>
              <a:off x="857250" y="2095500"/>
              <a:ext cx="2571900" cy="1905000"/>
            </a:xfrm>
            <a:prstGeom prst="rect">
              <a:avLst/>
            </a:prstGeom>
            <a:noFill/>
            <a:ln>
              <a:noFill/>
            </a:ln>
          </p:spPr>
          <p:txBody>
            <a:bodyPr anchorCtr="0" anchor="t" bIns="0" lIns="0" spcFirstLastPara="1" rIns="0" wrap="square" tIns="0">
              <a:noAutofit/>
            </a:bodyPr>
            <a:lstStyle/>
            <a:p>
              <a:pPr indent="-304800" lvl="0" marL="457200" rtl="0" algn="l">
                <a:spcBef>
                  <a:spcPts val="0"/>
                </a:spcBef>
                <a:spcAft>
                  <a:spcPts val="0"/>
                </a:spcAft>
                <a:buClr>
                  <a:srgbClr val="4B5563"/>
                </a:buClr>
                <a:buSzPts val="1200"/>
                <a:buFont typeface="Inter"/>
                <a:buChar char="●"/>
              </a:pPr>
              <a:r>
                <a:rPr b="0" lang="en" sz="1200">
                  <a:solidFill>
                    <a:srgbClr val="4B5563"/>
                  </a:solidFill>
                  <a:latin typeface="Inter"/>
                  <a:ea typeface="Inter"/>
                  <a:cs typeface="Inter"/>
                  <a:sym typeface="Inter"/>
                </a:rPr>
                <a:t>Asking too often hurts user experience</a:t>
              </a:r>
              <a:endParaRPr b="0" sz="1200">
                <a:solidFill>
                  <a:srgbClr val="4B5563"/>
                </a:solidFill>
                <a:latin typeface="Inter"/>
                <a:ea typeface="Inter"/>
                <a:cs typeface="Inter"/>
                <a:sym typeface="Inter"/>
              </a:endParaRPr>
            </a:p>
            <a:p>
              <a:pPr indent="-304800" lvl="0" marL="457200" rtl="0" algn="l">
                <a:spcBef>
                  <a:spcPts val="900"/>
                </a:spcBef>
                <a:spcAft>
                  <a:spcPts val="900"/>
                </a:spcAft>
                <a:buClr>
                  <a:srgbClr val="4B5563"/>
                </a:buClr>
                <a:buSzPts val="1200"/>
                <a:buFont typeface="Inter"/>
                <a:buChar char="●"/>
              </a:pPr>
              <a:r>
                <a:rPr b="0" lang="en" sz="1200">
                  <a:solidFill>
                    <a:srgbClr val="4B5563"/>
                  </a:solidFill>
                  <a:latin typeface="Inter"/>
                  <a:ea typeface="Inter"/>
                  <a:cs typeface="Inter"/>
                  <a:sym typeface="Inter"/>
                </a:rPr>
                <a:t>Clear prompts should not be interrupted</a:t>
              </a:r>
              <a:endParaRPr b="0" sz="1200">
                <a:solidFill>
                  <a:srgbClr val="4B5563"/>
                </a:solidFill>
                <a:latin typeface="Inter"/>
                <a:ea typeface="Inter"/>
                <a:cs typeface="Inter"/>
                <a:sym typeface="Inter"/>
              </a:endParaRPr>
            </a:p>
          </p:txBody>
        </p:sp>
      </p:grpSp>
      <p:grpSp>
        <p:nvGrpSpPr>
          <p:cNvPr id="109" name="Google Shape;109;p17"/>
          <p:cNvGrpSpPr/>
          <p:nvPr/>
        </p:nvGrpSpPr>
        <p:grpSpPr>
          <a:xfrm>
            <a:off x="3905250" y="1238250"/>
            <a:ext cx="3143400" cy="3048000"/>
            <a:chOff x="3905250" y="1238250"/>
            <a:chExt cx="3143400" cy="3048000"/>
          </a:xfrm>
        </p:grpSpPr>
        <p:sp>
          <p:nvSpPr>
            <p:cNvPr id="110" name="Google Shape;110;p17"/>
            <p:cNvSpPr/>
            <p:nvPr/>
          </p:nvSpPr>
          <p:spPr>
            <a:xfrm>
              <a:off x="3905250" y="1238250"/>
              <a:ext cx="31434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7"/>
            <p:cNvSpPr txBox="1"/>
            <p:nvPr/>
          </p:nvSpPr>
          <p:spPr>
            <a:xfrm>
              <a:off x="4191000" y="1528953"/>
              <a:ext cx="476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3060">
                  <a:solidFill>
                    <a:srgbClr val="3B82F6"/>
                  </a:solidFill>
                  <a:latin typeface="Material Icons"/>
                  <a:ea typeface="Material Icons"/>
                  <a:cs typeface="Material Icons"/>
                  <a:sym typeface="Material Icons"/>
                </a:rPr>
                <a:t>track_changes</a:t>
              </a:r>
              <a:endParaRPr sz="3060">
                <a:solidFill>
                  <a:srgbClr val="3B82F6"/>
                </a:solidFill>
                <a:latin typeface="Material Icons"/>
                <a:ea typeface="Material Icons"/>
                <a:cs typeface="Material Icons"/>
                <a:sym typeface="Material Icons"/>
              </a:endParaRPr>
            </a:p>
          </p:txBody>
        </p:sp>
        <p:sp>
          <p:nvSpPr>
            <p:cNvPr id="112" name="Google Shape;112;p17"/>
            <p:cNvSpPr txBox="1"/>
            <p:nvPr/>
          </p:nvSpPr>
          <p:spPr>
            <a:xfrm>
              <a:off x="4714875" y="1476375"/>
              <a:ext cx="2095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3B82F6"/>
                  </a:solidFill>
                  <a:latin typeface="Inter"/>
                  <a:ea typeface="Inter"/>
                  <a:cs typeface="Inter"/>
                  <a:sym typeface="Inter"/>
                </a:rPr>
                <a:t>What to Ask</a:t>
              </a:r>
              <a:endParaRPr b="1" sz="1600">
                <a:solidFill>
                  <a:srgbClr val="3B82F6"/>
                </a:solidFill>
                <a:latin typeface="Inter"/>
                <a:ea typeface="Inter"/>
                <a:cs typeface="Inter"/>
                <a:sym typeface="Inter"/>
              </a:endParaRPr>
            </a:p>
          </p:txBody>
        </p:sp>
        <p:sp>
          <p:nvSpPr>
            <p:cNvPr id="113" name="Google Shape;113;p17"/>
            <p:cNvSpPr txBox="1"/>
            <p:nvPr/>
          </p:nvSpPr>
          <p:spPr>
            <a:xfrm>
              <a:off x="4191000" y="2095500"/>
              <a:ext cx="2571900" cy="1905000"/>
            </a:xfrm>
            <a:prstGeom prst="rect">
              <a:avLst/>
            </a:prstGeom>
            <a:noFill/>
            <a:ln>
              <a:noFill/>
            </a:ln>
          </p:spPr>
          <p:txBody>
            <a:bodyPr anchorCtr="0" anchor="t" bIns="0" lIns="0" spcFirstLastPara="1" rIns="0" wrap="square" tIns="0">
              <a:noAutofit/>
            </a:bodyPr>
            <a:lstStyle/>
            <a:p>
              <a:pPr indent="-304800" lvl="0" marL="457200" rtl="0" algn="l">
                <a:spcBef>
                  <a:spcPts val="0"/>
                </a:spcBef>
                <a:spcAft>
                  <a:spcPts val="0"/>
                </a:spcAft>
                <a:buClr>
                  <a:srgbClr val="4B5563"/>
                </a:buClr>
                <a:buSzPts val="1200"/>
                <a:buFont typeface="Inter"/>
                <a:buChar char="●"/>
              </a:pPr>
              <a:r>
                <a:rPr b="0" lang="en" sz="1200">
                  <a:solidFill>
                    <a:srgbClr val="4B5563"/>
                  </a:solidFill>
                  <a:latin typeface="Inter"/>
                  <a:ea typeface="Inter"/>
                  <a:cs typeface="Inter"/>
                  <a:sym typeface="Inter"/>
                </a:rPr>
                <a:t>Questions must target the actual ambiguity</a:t>
              </a:r>
              <a:endParaRPr b="0" sz="1200">
                <a:solidFill>
                  <a:srgbClr val="4B5563"/>
                </a:solidFill>
                <a:latin typeface="Inter"/>
                <a:ea typeface="Inter"/>
                <a:cs typeface="Inter"/>
                <a:sym typeface="Inter"/>
              </a:endParaRPr>
            </a:p>
            <a:p>
              <a:pPr indent="-304800" lvl="0" marL="457200" rtl="0" algn="l">
                <a:spcBef>
                  <a:spcPts val="900"/>
                </a:spcBef>
                <a:spcAft>
                  <a:spcPts val="900"/>
                </a:spcAft>
                <a:buClr>
                  <a:srgbClr val="4B5563"/>
                </a:buClr>
                <a:buSzPts val="1200"/>
                <a:buFont typeface="Inter"/>
                <a:buChar char="●"/>
              </a:pPr>
              <a:r>
                <a:rPr b="0" lang="en" sz="1200">
                  <a:solidFill>
                    <a:srgbClr val="4B5563"/>
                  </a:solidFill>
                  <a:latin typeface="Inter"/>
                  <a:ea typeface="Inter"/>
                  <a:cs typeface="Inter"/>
                  <a:sym typeface="Inter"/>
                </a:rPr>
                <a:t>Vague questions can confuse users</a:t>
              </a:r>
              <a:endParaRPr b="0" sz="1200">
                <a:solidFill>
                  <a:srgbClr val="4B5563"/>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7" name="Shape 117"/>
        <p:cNvGrpSpPr/>
        <p:nvPr/>
      </p:nvGrpSpPr>
      <p:grpSpPr>
        <a:xfrm>
          <a:off x="0" y="0"/>
          <a:ext cx="0" cy="0"/>
          <a:chOff x="0" y="0"/>
          <a:chExt cx="0" cy="0"/>
        </a:xfrm>
      </p:grpSpPr>
      <p:pic>
        <p:nvPicPr>
          <p:cNvPr id="118" name="Google Shape;118;p18"/>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119" name="Google Shape;119;p18"/>
          <p:cNvSpPr/>
          <p:nvPr/>
        </p:nvSpPr>
        <p:spPr>
          <a:xfrm>
            <a:off x="571500" y="381000"/>
            <a:ext cx="28500" cy="381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8"/>
          <p:cNvSpPr txBox="1"/>
          <p:nvPr/>
        </p:nvSpPr>
        <p:spPr>
          <a:xfrm>
            <a:off x="762000" y="381000"/>
            <a:ext cx="3619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Technical Solution</a:t>
            </a:r>
            <a:endParaRPr b="0" sz="2400">
              <a:solidFill>
                <a:srgbClr val="1A1A1A"/>
              </a:solidFill>
              <a:latin typeface="Inter ExtraBold"/>
              <a:ea typeface="Inter ExtraBold"/>
              <a:cs typeface="Inter ExtraBold"/>
              <a:sym typeface="Inter ExtraBold"/>
            </a:endParaRPr>
          </a:p>
        </p:txBody>
      </p:sp>
      <p:sp>
        <p:nvSpPr>
          <p:cNvPr id="121" name="Google Shape;121;p18"/>
          <p:cNvSpPr txBox="1"/>
          <p:nvPr/>
        </p:nvSpPr>
        <p:spPr>
          <a:xfrm>
            <a:off x="571500" y="1143000"/>
            <a:ext cx="5560200" cy="3238500"/>
          </a:xfrm>
          <a:prstGeom prst="rect">
            <a:avLst/>
          </a:prstGeom>
          <a:noFill/>
          <a:ln>
            <a:noFill/>
          </a:ln>
        </p:spPr>
        <p:txBody>
          <a:bodyPr anchorCtr="0" anchor="t" bIns="0" lIns="0" spcFirstLastPara="1" rIns="0" wrap="square" tIns="0">
            <a:noAutofit/>
          </a:bodyPr>
          <a:lstStyle/>
          <a:p>
            <a:pPr indent="-320675" lvl="0" marL="457200" rtl="0" algn="l">
              <a:spcBef>
                <a:spcPts val="0"/>
              </a:spcBef>
              <a:spcAft>
                <a:spcPts val="0"/>
              </a:spcAft>
              <a:buClr>
                <a:srgbClr val="4B5563"/>
              </a:buClr>
              <a:buSzPts val="1450"/>
              <a:buFont typeface="Inter"/>
              <a:buChar char="●"/>
            </a:pPr>
            <a:r>
              <a:rPr b="0" lang="en" sz="1450">
                <a:solidFill>
                  <a:srgbClr val="4B5563"/>
                </a:solidFill>
                <a:latin typeface="Inter"/>
                <a:ea typeface="Inter"/>
                <a:cs typeface="Inter"/>
                <a:sym typeface="Inter"/>
              </a:rPr>
              <a:t>ClarifyGPT does not immediately generate final code</a:t>
            </a:r>
            <a:endParaRPr b="0" sz="1450">
              <a:solidFill>
                <a:srgbClr val="4B5563"/>
              </a:solidFill>
              <a:latin typeface="Inter"/>
              <a:ea typeface="Inter"/>
              <a:cs typeface="Inter"/>
              <a:sym typeface="Inter"/>
            </a:endParaRPr>
          </a:p>
          <a:p>
            <a:pPr indent="-320675" lvl="0" marL="457200" rtl="0" algn="l">
              <a:spcBef>
                <a:spcPts val="900"/>
              </a:spcBef>
              <a:spcAft>
                <a:spcPts val="0"/>
              </a:spcAft>
              <a:buClr>
                <a:srgbClr val="4B5563"/>
              </a:buClr>
              <a:buSzPts val="1450"/>
              <a:buFont typeface="Inter"/>
              <a:buChar char="●"/>
            </a:pPr>
            <a:r>
              <a:rPr b="0" lang="en" sz="1450">
                <a:solidFill>
                  <a:srgbClr val="4B5563"/>
                </a:solidFill>
                <a:latin typeface="Inter"/>
                <a:ea typeface="Inter"/>
                <a:cs typeface="Inter"/>
                <a:sym typeface="Inter"/>
              </a:rPr>
              <a:t>It first creates several draft code solutions</a:t>
            </a:r>
            <a:endParaRPr b="0" sz="1450">
              <a:solidFill>
                <a:srgbClr val="4B5563"/>
              </a:solidFill>
              <a:latin typeface="Inter"/>
              <a:ea typeface="Inter"/>
              <a:cs typeface="Inter"/>
              <a:sym typeface="Inter"/>
            </a:endParaRPr>
          </a:p>
          <a:p>
            <a:pPr indent="-320675" lvl="0" marL="457200" rtl="0" algn="l">
              <a:spcBef>
                <a:spcPts val="900"/>
              </a:spcBef>
              <a:spcAft>
                <a:spcPts val="0"/>
              </a:spcAft>
              <a:buClr>
                <a:srgbClr val="4B5563"/>
              </a:buClr>
              <a:buSzPts val="1450"/>
              <a:buFont typeface="Inter"/>
              <a:buChar char="●"/>
            </a:pPr>
            <a:r>
              <a:rPr b="0" lang="en" sz="1450">
                <a:solidFill>
                  <a:srgbClr val="4B5563"/>
                </a:solidFill>
                <a:latin typeface="Inter"/>
                <a:ea typeface="Inter"/>
                <a:cs typeface="Inter"/>
                <a:sym typeface="Inter"/>
              </a:rPr>
              <a:t>It tests whether the drafts behave the same way</a:t>
            </a:r>
            <a:endParaRPr b="0" sz="1450">
              <a:solidFill>
                <a:srgbClr val="4B5563"/>
              </a:solidFill>
              <a:latin typeface="Inter"/>
              <a:ea typeface="Inter"/>
              <a:cs typeface="Inter"/>
              <a:sym typeface="Inter"/>
            </a:endParaRPr>
          </a:p>
          <a:p>
            <a:pPr indent="-320675" lvl="0" marL="457200" rtl="0" algn="l">
              <a:spcBef>
                <a:spcPts val="900"/>
              </a:spcBef>
              <a:spcAft>
                <a:spcPts val="0"/>
              </a:spcAft>
              <a:buClr>
                <a:srgbClr val="4B5563"/>
              </a:buClr>
              <a:buSzPts val="1450"/>
              <a:buFont typeface="Inter"/>
              <a:buChar char="●"/>
            </a:pPr>
            <a:r>
              <a:rPr b="0" lang="en" sz="1450">
                <a:solidFill>
                  <a:srgbClr val="4B5563"/>
                </a:solidFill>
                <a:latin typeface="Inter"/>
                <a:ea typeface="Inter"/>
                <a:cs typeface="Inter"/>
                <a:sym typeface="Inter"/>
              </a:rPr>
              <a:t>If they agree, the prompt is treated as clear</a:t>
            </a:r>
            <a:endParaRPr b="0" sz="1450">
              <a:solidFill>
                <a:srgbClr val="4B5563"/>
              </a:solidFill>
              <a:latin typeface="Inter"/>
              <a:ea typeface="Inter"/>
              <a:cs typeface="Inter"/>
              <a:sym typeface="Inter"/>
            </a:endParaRPr>
          </a:p>
          <a:p>
            <a:pPr indent="-320675" lvl="0" marL="457200" rtl="0" algn="l">
              <a:spcBef>
                <a:spcPts val="900"/>
              </a:spcBef>
              <a:spcAft>
                <a:spcPts val="900"/>
              </a:spcAft>
              <a:buClr>
                <a:srgbClr val="4B5563"/>
              </a:buClr>
              <a:buSzPts val="1450"/>
              <a:buFont typeface="Inter"/>
              <a:buChar char="●"/>
            </a:pPr>
            <a:r>
              <a:rPr b="0" lang="en" sz="1450">
                <a:solidFill>
                  <a:srgbClr val="4B5563"/>
                </a:solidFill>
                <a:latin typeface="Inter"/>
                <a:ea typeface="Inter"/>
                <a:cs typeface="Inter"/>
                <a:sym typeface="Inter"/>
              </a:rPr>
              <a:t>If they disagree, ClarifyGPT asks a targeted clarifying question</a:t>
            </a:r>
            <a:endParaRPr b="0" sz="1450">
              <a:solidFill>
                <a:srgbClr val="4B5563"/>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27" name="Google Shape;127;p19"/>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128" name="Google Shape;128;p19"/>
          <p:cNvSpPr/>
          <p:nvPr/>
        </p:nvSpPr>
        <p:spPr>
          <a:xfrm>
            <a:off x="571500" y="381000"/>
            <a:ext cx="28500" cy="381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9"/>
          <p:cNvSpPr txBox="1"/>
          <p:nvPr/>
        </p:nvSpPr>
        <p:spPr>
          <a:xfrm>
            <a:off x="762000" y="381000"/>
            <a:ext cx="666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ClarifyGPT Technical Pipeline</a:t>
            </a:r>
            <a:endParaRPr b="0" sz="2400">
              <a:solidFill>
                <a:srgbClr val="1A1A1A"/>
              </a:solidFill>
              <a:latin typeface="Inter ExtraBold"/>
              <a:ea typeface="Inter ExtraBold"/>
              <a:cs typeface="Inter ExtraBold"/>
              <a:sym typeface="Inter ExtraBold"/>
            </a:endParaRPr>
          </a:p>
        </p:txBody>
      </p:sp>
      <p:grpSp>
        <p:nvGrpSpPr>
          <p:cNvPr id="130" name="Google Shape;130;p19"/>
          <p:cNvGrpSpPr/>
          <p:nvPr/>
        </p:nvGrpSpPr>
        <p:grpSpPr>
          <a:xfrm>
            <a:off x="190500" y="1047750"/>
            <a:ext cx="6953250" cy="4000500"/>
            <a:chOff x="190500" y="1047750"/>
            <a:chExt cx="6953250" cy="4000500"/>
          </a:xfrm>
        </p:grpSpPr>
        <p:sp>
          <p:nvSpPr>
            <p:cNvPr id="131" name="Google Shape;131;p19"/>
            <p:cNvSpPr/>
            <p:nvPr/>
          </p:nvSpPr>
          <p:spPr>
            <a:xfrm>
              <a:off x="3714750" y="1047750"/>
              <a:ext cx="1714500" cy="381000"/>
            </a:xfrm>
            <a:prstGeom prst="roundRect">
              <a:avLst>
                <a:gd fmla="val 2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9"/>
            <p:cNvSpPr txBox="1"/>
            <p:nvPr/>
          </p:nvSpPr>
          <p:spPr>
            <a:xfrm>
              <a:off x="3714750" y="1047750"/>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Inter SemiBold"/>
                  <a:ea typeface="Inter SemiBold"/>
                  <a:cs typeface="Inter SemiBold"/>
                  <a:sym typeface="Inter SemiBold"/>
                </a:rPr>
                <a:t>1. User Requirement</a:t>
              </a:r>
              <a:endParaRPr b="0" sz="1000">
                <a:solidFill>
                  <a:srgbClr val="4B5563"/>
                </a:solidFill>
                <a:latin typeface="Inter SemiBold"/>
                <a:ea typeface="Inter SemiBold"/>
                <a:cs typeface="Inter SemiBold"/>
                <a:sym typeface="Inter SemiBold"/>
              </a:endParaRPr>
            </a:p>
          </p:txBody>
        </p:sp>
        <p:pic>
          <p:nvPicPr>
            <p:cNvPr id="133" name="Google Shape;133;p19"/>
            <p:cNvPicPr preferRelativeResize="0"/>
            <p:nvPr/>
          </p:nvPicPr>
          <p:blipFill rotWithShape="1">
            <a:blip r:embed="rId4">
              <a:alphaModFix/>
            </a:blip>
            <a:srcRect b="0" l="0" r="0" t="0"/>
            <a:stretch/>
          </p:blipFill>
          <p:spPr>
            <a:xfrm>
              <a:off x="4505325" y="1428750"/>
              <a:ext cx="133500" cy="190500"/>
            </a:xfrm>
            <a:prstGeom prst="rect">
              <a:avLst/>
            </a:prstGeom>
            <a:noFill/>
            <a:ln>
              <a:noFill/>
            </a:ln>
          </p:spPr>
        </p:pic>
        <p:sp>
          <p:nvSpPr>
            <p:cNvPr id="134" name="Google Shape;134;p19"/>
            <p:cNvSpPr/>
            <p:nvPr/>
          </p:nvSpPr>
          <p:spPr>
            <a:xfrm>
              <a:off x="3714750" y="1619250"/>
              <a:ext cx="1714500" cy="381000"/>
            </a:xfrm>
            <a:prstGeom prst="roundRect">
              <a:avLst>
                <a:gd fmla="val 2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9"/>
            <p:cNvSpPr txBox="1"/>
            <p:nvPr/>
          </p:nvSpPr>
          <p:spPr>
            <a:xfrm>
              <a:off x="3714750" y="1619250"/>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Inter SemiBold"/>
                  <a:ea typeface="Inter SemiBold"/>
                  <a:cs typeface="Inter SemiBold"/>
                  <a:sym typeface="Inter SemiBold"/>
                </a:rPr>
                <a:t>2. Generate Tests</a:t>
              </a:r>
              <a:endParaRPr b="0" sz="1000">
                <a:solidFill>
                  <a:srgbClr val="4B5563"/>
                </a:solidFill>
                <a:latin typeface="Inter SemiBold"/>
                <a:ea typeface="Inter SemiBold"/>
                <a:cs typeface="Inter SemiBold"/>
                <a:sym typeface="Inter SemiBold"/>
              </a:endParaRPr>
            </a:p>
          </p:txBody>
        </p:sp>
        <p:pic>
          <p:nvPicPr>
            <p:cNvPr id="136" name="Google Shape;136;p19"/>
            <p:cNvPicPr preferRelativeResize="0"/>
            <p:nvPr/>
          </p:nvPicPr>
          <p:blipFill rotWithShape="1">
            <a:blip r:embed="rId4">
              <a:alphaModFix/>
            </a:blip>
            <a:srcRect b="0" l="0" r="0" t="0"/>
            <a:stretch/>
          </p:blipFill>
          <p:spPr>
            <a:xfrm>
              <a:off x="4505325" y="2000250"/>
              <a:ext cx="133500" cy="190500"/>
            </a:xfrm>
            <a:prstGeom prst="rect">
              <a:avLst/>
            </a:prstGeom>
            <a:noFill/>
            <a:ln>
              <a:noFill/>
            </a:ln>
          </p:spPr>
        </p:pic>
        <p:sp>
          <p:nvSpPr>
            <p:cNvPr id="137" name="Google Shape;137;p19"/>
            <p:cNvSpPr/>
            <p:nvPr/>
          </p:nvSpPr>
          <p:spPr>
            <a:xfrm>
              <a:off x="3714750" y="2190750"/>
              <a:ext cx="1714500" cy="381000"/>
            </a:xfrm>
            <a:prstGeom prst="roundRect">
              <a:avLst>
                <a:gd fmla="val 2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9"/>
            <p:cNvSpPr txBox="1"/>
            <p:nvPr/>
          </p:nvSpPr>
          <p:spPr>
            <a:xfrm>
              <a:off x="3714750" y="2190750"/>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Inter SemiBold"/>
                  <a:ea typeface="Inter SemiBold"/>
                  <a:cs typeface="Inter SemiBold"/>
                  <a:sym typeface="Inter SemiBold"/>
                </a:rPr>
                <a:t>3. Sample Solutions</a:t>
              </a:r>
              <a:endParaRPr b="0" sz="1000">
                <a:solidFill>
                  <a:srgbClr val="4B5563"/>
                </a:solidFill>
                <a:latin typeface="Inter SemiBold"/>
                <a:ea typeface="Inter SemiBold"/>
                <a:cs typeface="Inter SemiBold"/>
                <a:sym typeface="Inter SemiBold"/>
              </a:endParaRPr>
            </a:p>
          </p:txBody>
        </p:sp>
        <p:pic>
          <p:nvPicPr>
            <p:cNvPr id="139" name="Google Shape;139;p19"/>
            <p:cNvPicPr preferRelativeResize="0"/>
            <p:nvPr/>
          </p:nvPicPr>
          <p:blipFill rotWithShape="1">
            <a:blip r:embed="rId4">
              <a:alphaModFix/>
            </a:blip>
            <a:srcRect b="0" l="0" r="0" t="0"/>
            <a:stretch/>
          </p:blipFill>
          <p:spPr>
            <a:xfrm>
              <a:off x="4505325" y="2571750"/>
              <a:ext cx="133500" cy="190500"/>
            </a:xfrm>
            <a:prstGeom prst="rect">
              <a:avLst/>
            </a:prstGeom>
            <a:noFill/>
            <a:ln>
              <a:noFill/>
            </a:ln>
          </p:spPr>
        </p:pic>
        <p:sp>
          <p:nvSpPr>
            <p:cNvPr id="140" name="Google Shape;140;p19"/>
            <p:cNvSpPr/>
            <p:nvPr/>
          </p:nvSpPr>
          <p:spPr>
            <a:xfrm>
              <a:off x="3714750" y="2762250"/>
              <a:ext cx="1714500" cy="381000"/>
            </a:xfrm>
            <a:prstGeom prst="roundRect">
              <a:avLst>
                <a:gd fmla="val 2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9"/>
            <p:cNvSpPr txBox="1"/>
            <p:nvPr/>
          </p:nvSpPr>
          <p:spPr>
            <a:xfrm>
              <a:off x="3714750" y="2762250"/>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Inter SemiBold"/>
                  <a:ea typeface="Inter SemiBold"/>
                  <a:cs typeface="Inter SemiBold"/>
                  <a:sym typeface="Inter SemiBold"/>
                </a:rPr>
                <a:t>4. Run Tests</a:t>
              </a:r>
              <a:endParaRPr b="0" sz="1000">
                <a:solidFill>
                  <a:srgbClr val="4B5563"/>
                </a:solidFill>
                <a:latin typeface="Inter SemiBold"/>
                <a:ea typeface="Inter SemiBold"/>
                <a:cs typeface="Inter SemiBold"/>
                <a:sym typeface="Inter SemiBold"/>
              </a:endParaRPr>
            </a:p>
          </p:txBody>
        </p:sp>
        <p:pic>
          <p:nvPicPr>
            <p:cNvPr id="142" name="Google Shape;142;p19"/>
            <p:cNvPicPr preferRelativeResize="0"/>
            <p:nvPr/>
          </p:nvPicPr>
          <p:blipFill rotWithShape="1">
            <a:blip r:embed="rId4">
              <a:alphaModFix/>
            </a:blip>
            <a:srcRect b="0" l="0" r="0" t="0"/>
            <a:stretch/>
          </p:blipFill>
          <p:spPr>
            <a:xfrm>
              <a:off x="4505325" y="3143250"/>
              <a:ext cx="133500" cy="190500"/>
            </a:xfrm>
            <a:prstGeom prst="rect">
              <a:avLst/>
            </a:prstGeom>
            <a:noFill/>
            <a:ln>
              <a:noFill/>
            </a:ln>
          </p:spPr>
        </p:pic>
        <p:sp>
          <p:nvSpPr>
            <p:cNvPr id="143" name="Google Shape;143;p19"/>
            <p:cNvSpPr/>
            <p:nvPr/>
          </p:nvSpPr>
          <p:spPr>
            <a:xfrm>
              <a:off x="3714750" y="3333750"/>
              <a:ext cx="1714500" cy="381000"/>
            </a:xfrm>
            <a:prstGeom prst="roundRect">
              <a:avLst>
                <a:gd fmla="val 2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9"/>
            <p:cNvSpPr txBox="1"/>
            <p:nvPr/>
          </p:nvSpPr>
          <p:spPr>
            <a:xfrm>
              <a:off x="3714750" y="3333750"/>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Inter SemiBold"/>
                  <a:ea typeface="Inter SemiBold"/>
                  <a:cs typeface="Inter SemiBold"/>
                  <a:sym typeface="Inter SemiBold"/>
                </a:rPr>
                <a:t>5. Compare Outputs</a:t>
              </a:r>
              <a:endParaRPr b="0" sz="1000">
                <a:solidFill>
                  <a:srgbClr val="4B5563"/>
                </a:solidFill>
                <a:latin typeface="Inter SemiBold"/>
                <a:ea typeface="Inter SemiBold"/>
                <a:cs typeface="Inter SemiBold"/>
                <a:sym typeface="Inter SemiBold"/>
              </a:endParaRPr>
            </a:p>
          </p:txBody>
        </p:sp>
        <p:pic>
          <p:nvPicPr>
            <p:cNvPr id="145" name="Google Shape;145;p19"/>
            <p:cNvPicPr preferRelativeResize="0"/>
            <p:nvPr/>
          </p:nvPicPr>
          <p:blipFill rotWithShape="1">
            <a:blip r:embed="rId5">
              <a:alphaModFix/>
            </a:blip>
            <a:srcRect b="0" l="0" r="0" t="27662"/>
            <a:stretch/>
          </p:blipFill>
          <p:spPr>
            <a:xfrm rot="5400000">
              <a:off x="3111450" y="3776827"/>
              <a:ext cx="924000" cy="282600"/>
            </a:xfrm>
            <a:prstGeom prst="rect">
              <a:avLst/>
            </a:prstGeom>
            <a:noFill/>
            <a:ln>
              <a:noFill/>
            </a:ln>
          </p:spPr>
        </p:pic>
        <p:pic>
          <p:nvPicPr>
            <p:cNvPr id="146" name="Google Shape;146;p19"/>
            <p:cNvPicPr preferRelativeResize="0"/>
            <p:nvPr/>
          </p:nvPicPr>
          <p:blipFill rotWithShape="1">
            <a:blip r:embed="rId6">
              <a:alphaModFix/>
            </a:blip>
            <a:srcRect b="0" l="0" r="0" t="0"/>
            <a:stretch/>
          </p:blipFill>
          <p:spPr>
            <a:xfrm>
              <a:off x="5429250" y="3514725"/>
              <a:ext cx="924000" cy="390600"/>
            </a:xfrm>
            <a:prstGeom prst="rect">
              <a:avLst/>
            </a:prstGeom>
            <a:noFill/>
            <a:ln>
              <a:noFill/>
            </a:ln>
          </p:spPr>
        </p:pic>
        <p:sp>
          <p:nvSpPr>
            <p:cNvPr id="147" name="Google Shape;147;p19"/>
            <p:cNvSpPr/>
            <p:nvPr/>
          </p:nvSpPr>
          <p:spPr>
            <a:xfrm>
              <a:off x="1634175" y="3343275"/>
              <a:ext cx="1714500" cy="381000"/>
            </a:xfrm>
            <a:prstGeom prst="roundRect">
              <a:avLst>
                <a:gd fmla="val 20000" name="adj"/>
              </a:avLst>
            </a:prstGeom>
            <a:solidFill>
              <a:srgbClr val="ECFDF5"/>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9"/>
            <p:cNvSpPr txBox="1"/>
            <p:nvPr/>
          </p:nvSpPr>
          <p:spPr>
            <a:xfrm>
              <a:off x="1634175" y="3343275"/>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10B981"/>
                  </a:solidFill>
                  <a:latin typeface="Inter SemiBold"/>
                  <a:ea typeface="Inter SemiBold"/>
                  <a:cs typeface="Inter SemiBold"/>
                  <a:sym typeface="Inter SemiBold"/>
                </a:rPr>
                <a:t>6. Match: Return Code</a:t>
              </a:r>
              <a:endParaRPr b="0" sz="1000">
                <a:solidFill>
                  <a:srgbClr val="10B981"/>
                </a:solidFill>
                <a:latin typeface="Inter SemiBold"/>
                <a:ea typeface="Inter SemiBold"/>
                <a:cs typeface="Inter SemiBold"/>
                <a:sym typeface="Inter SemiBold"/>
              </a:endParaRPr>
            </a:p>
          </p:txBody>
        </p:sp>
        <p:sp>
          <p:nvSpPr>
            <p:cNvPr id="149" name="Google Shape;149;p19"/>
            <p:cNvSpPr/>
            <p:nvPr/>
          </p:nvSpPr>
          <p:spPr>
            <a:xfrm>
              <a:off x="5429250" y="3905250"/>
              <a:ext cx="1714500" cy="381000"/>
            </a:xfrm>
            <a:prstGeom prst="roundRect">
              <a:avLst>
                <a:gd fmla="val 20000" name="adj"/>
              </a:avLst>
            </a:prstGeom>
            <a:solidFill>
              <a:srgbClr val="FFFBEB"/>
            </a:solidFill>
            <a:ln cap="flat" cmpd="sng" w="952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9"/>
            <p:cNvSpPr txBox="1"/>
            <p:nvPr/>
          </p:nvSpPr>
          <p:spPr>
            <a:xfrm>
              <a:off x="5429250" y="3905250"/>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B45309"/>
                  </a:solidFill>
                  <a:latin typeface="Inter SemiBold"/>
                  <a:ea typeface="Inter SemiBold"/>
                  <a:cs typeface="Inter SemiBold"/>
                  <a:sym typeface="Inter SemiBold"/>
                </a:rPr>
                <a:t>7. Differ: Cluster</a:t>
              </a:r>
              <a:endParaRPr b="0" sz="1000">
                <a:solidFill>
                  <a:srgbClr val="B45309"/>
                </a:solidFill>
                <a:latin typeface="Inter SemiBold"/>
                <a:ea typeface="Inter SemiBold"/>
                <a:cs typeface="Inter SemiBold"/>
                <a:sym typeface="Inter SemiBold"/>
              </a:endParaRPr>
            </a:p>
          </p:txBody>
        </p:sp>
        <p:pic>
          <p:nvPicPr>
            <p:cNvPr id="151" name="Google Shape;151;p19"/>
            <p:cNvPicPr preferRelativeResize="0"/>
            <p:nvPr/>
          </p:nvPicPr>
          <p:blipFill rotWithShape="1">
            <a:blip r:embed="rId7">
              <a:alphaModFix/>
            </a:blip>
            <a:srcRect b="0" l="0" r="0" t="0"/>
            <a:stretch/>
          </p:blipFill>
          <p:spPr>
            <a:xfrm>
              <a:off x="5429250" y="4286250"/>
              <a:ext cx="866700" cy="257100"/>
            </a:xfrm>
            <a:prstGeom prst="rect">
              <a:avLst/>
            </a:prstGeom>
            <a:noFill/>
            <a:ln>
              <a:noFill/>
            </a:ln>
          </p:spPr>
        </p:pic>
        <p:sp>
          <p:nvSpPr>
            <p:cNvPr id="152" name="Google Shape;152;p19"/>
            <p:cNvSpPr/>
            <p:nvPr/>
          </p:nvSpPr>
          <p:spPr>
            <a:xfrm>
              <a:off x="3714750" y="4286250"/>
              <a:ext cx="1714500" cy="381000"/>
            </a:xfrm>
            <a:prstGeom prst="roundRect">
              <a:avLst>
                <a:gd fmla="val 2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9"/>
            <p:cNvSpPr txBox="1"/>
            <p:nvPr/>
          </p:nvSpPr>
          <p:spPr>
            <a:xfrm>
              <a:off x="3714750" y="4286250"/>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Inter SemiBold"/>
                  <a:ea typeface="Inter SemiBold"/>
                  <a:cs typeface="Inter SemiBold"/>
                  <a:sym typeface="Inter SemiBold"/>
                </a:rPr>
                <a:t>8. Ask Question</a:t>
              </a:r>
              <a:endParaRPr b="0" sz="1000">
                <a:solidFill>
                  <a:srgbClr val="4B5563"/>
                </a:solidFill>
                <a:latin typeface="Inter SemiBold"/>
                <a:ea typeface="Inter SemiBold"/>
                <a:cs typeface="Inter SemiBold"/>
                <a:sym typeface="Inter SemiBold"/>
              </a:endParaRPr>
            </a:p>
          </p:txBody>
        </p:sp>
        <p:pic>
          <p:nvPicPr>
            <p:cNvPr id="154" name="Google Shape;154;p19"/>
            <p:cNvPicPr preferRelativeResize="0"/>
            <p:nvPr/>
          </p:nvPicPr>
          <p:blipFill rotWithShape="1">
            <a:blip r:embed="rId8">
              <a:alphaModFix/>
            </a:blip>
            <a:srcRect b="0" l="0" r="0" t="0"/>
            <a:stretch/>
          </p:blipFill>
          <p:spPr>
            <a:xfrm>
              <a:off x="2790825" y="4467225"/>
              <a:ext cx="924000" cy="200100"/>
            </a:xfrm>
            <a:prstGeom prst="rect">
              <a:avLst/>
            </a:prstGeom>
            <a:noFill/>
            <a:ln>
              <a:noFill/>
            </a:ln>
          </p:spPr>
        </p:pic>
        <p:sp>
          <p:nvSpPr>
            <p:cNvPr id="155" name="Google Shape;155;p19"/>
            <p:cNvSpPr/>
            <p:nvPr/>
          </p:nvSpPr>
          <p:spPr>
            <a:xfrm>
              <a:off x="2000250" y="4667250"/>
              <a:ext cx="1714500" cy="381000"/>
            </a:xfrm>
            <a:prstGeom prst="roundRect">
              <a:avLst>
                <a:gd fmla="val 2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9"/>
            <p:cNvSpPr txBox="1"/>
            <p:nvPr/>
          </p:nvSpPr>
          <p:spPr>
            <a:xfrm>
              <a:off x="2000250" y="4667250"/>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Inter SemiBold"/>
                  <a:ea typeface="Inter SemiBold"/>
                  <a:cs typeface="Inter SemiBold"/>
                  <a:sym typeface="Inter SemiBold"/>
                </a:rPr>
                <a:t>9. User Answer</a:t>
              </a:r>
              <a:endParaRPr b="0" sz="1000">
                <a:solidFill>
                  <a:srgbClr val="4B5563"/>
                </a:solidFill>
                <a:latin typeface="Inter SemiBold"/>
                <a:ea typeface="Inter SemiBold"/>
                <a:cs typeface="Inter SemiBold"/>
                <a:sym typeface="Inter SemiBold"/>
              </a:endParaRPr>
            </a:p>
          </p:txBody>
        </p:sp>
        <p:pic>
          <p:nvPicPr>
            <p:cNvPr id="157" name="Google Shape;157;p19"/>
            <p:cNvPicPr preferRelativeResize="0"/>
            <p:nvPr/>
          </p:nvPicPr>
          <p:blipFill rotWithShape="1">
            <a:blip r:embed="rId9">
              <a:alphaModFix/>
            </a:blip>
            <a:srcRect b="0" l="0" r="0" t="0"/>
            <a:stretch/>
          </p:blipFill>
          <p:spPr>
            <a:xfrm>
              <a:off x="981075" y="4286250"/>
              <a:ext cx="1019100" cy="581100"/>
            </a:xfrm>
            <a:prstGeom prst="rect">
              <a:avLst/>
            </a:prstGeom>
            <a:noFill/>
            <a:ln>
              <a:noFill/>
            </a:ln>
          </p:spPr>
        </p:pic>
        <p:sp>
          <p:nvSpPr>
            <p:cNvPr id="158" name="Google Shape;158;p19"/>
            <p:cNvSpPr/>
            <p:nvPr/>
          </p:nvSpPr>
          <p:spPr>
            <a:xfrm>
              <a:off x="190500" y="3905250"/>
              <a:ext cx="1714500" cy="381000"/>
            </a:xfrm>
            <a:prstGeom prst="roundRect">
              <a:avLst>
                <a:gd fmla="val 20000" name="adj"/>
              </a:avLst>
            </a:prstGeom>
            <a:solidFill>
              <a:srgbClr val="EFF6FF"/>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9"/>
            <p:cNvSpPr txBox="1"/>
            <p:nvPr/>
          </p:nvSpPr>
          <p:spPr>
            <a:xfrm>
              <a:off x="190500" y="3905250"/>
              <a:ext cx="1714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1D4ED8"/>
                  </a:solidFill>
                  <a:latin typeface="Inter SemiBold"/>
                  <a:ea typeface="Inter SemiBold"/>
                  <a:cs typeface="Inter SemiBold"/>
                  <a:sym typeface="Inter SemiBold"/>
                </a:rPr>
                <a:t>10. Refined Code</a:t>
              </a:r>
              <a:endParaRPr b="0" sz="1000">
                <a:solidFill>
                  <a:srgbClr val="1D4ED8"/>
                </a:solidFill>
                <a:latin typeface="Inter SemiBold"/>
                <a:ea typeface="Inter SemiBold"/>
                <a:cs typeface="Inter SemiBold"/>
                <a:sym typeface="Inter SemiBold"/>
              </a:endParaRPr>
            </a:p>
          </p:txBody>
        </p:sp>
      </p:grpSp>
      <p:pic>
        <p:nvPicPr>
          <p:cNvPr id="160" name="Google Shape;160;p19"/>
          <p:cNvPicPr preferRelativeResize="0"/>
          <p:nvPr/>
        </p:nvPicPr>
        <p:blipFill rotWithShape="1">
          <a:blip r:embed="rId10">
            <a:alphaModFix/>
          </a:blip>
          <a:srcRect b="0" l="0" r="0" t="0"/>
          <a:stretch/>
        </p:blipFill>
        <p:spPr>
          <a:xfrm>
            <a:off x="7239000" y="0"/>
            <a:ext cx="1905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0"/>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6" name="Google Shape;166;p20"/>
          <p:cNvPicPr preferRelativeResize="0"/>
          <p:nvPr/>
        </p:nvPicPr>
        <p:blipFill rotWithShape="1">
          <a:blip r:embed="rId3">
            <a:alphaModFix/>
          </a:blip>
          <a:srcRect b="10" l="0" r="0" t="1526"/>
          <a:stretch/>
        </p:blipFill>
        <p:spPr>
          <a:xfrm>
            <a:off x="867412" y="130725"/>
            <a:ext cx="7409175" cy="4882049"/>
          </a:xfrm>
          <a:prstGeom prst="rect">
            <a:avLst/>
          </a:prstGeom>
          <a:solidFill>
            <a:srgbClr val="F8FAFC"/>
          </a:solid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72" name="Google Shape;172;p21"/>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173" name="Google Shape;173;p21"/>
          <p:cNvSpPr/>
          <p:nvPr/>
        </p:nvSpPr>
        <p:spPr>
          <a:xfrm>
            <a:off x="571500" y="381000"/>
            <a:ext cx="28500" cy="381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21"/>
          <p:cNvSpPr txBox="1"/>
          <p:nvPr/>
        </p:nvSpPr>
        <p:spPr>
          <a:xfrm>
            <a:off x="762000" y="381000"/>
            <a:ext cx="666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Evaluation Strategy</a:t>
            </a:r>
            <a:endParaRPr b="0" sz="2400">
              <a:solidFill>
                <a:srgbClr val="1A1A1A"/>
              </a:solidFill>
              <a:latin typeface="Inter ExtraBold"/>
              <a:ea typeface="Inter ExtraBold"/>
              <a:cs typeface="Inter ExtraBold"/>
              <a:sym typeface="Inter ExtraBold"/>
            </a:endParaRPr>
          </a:p>
        </p:txBody>
      </p:sp>
      <p:grpSp>
        <p:nvGrpSpPr>
          <p:cNvPr id="175" name="Google Shape;175;p21"/>
          <p:cNvGrpSpPr/>
          <p:nvPr/>
        </p:nvGrpSpPr>
        <p:grpSpPr>
          <a:xfrm>
            <a:off x="571500" y="1143000"/>
            <a:ext cx="1952700" cy="3238500"/>
            <a:chOff x="571500" y="1143000"/>
            <a:chExt cx="1952700" cy="3238500"/>
          </a:xfrm>
        </p:grpSpPr>
        <p:sp>
          <p:nvSpPr>
            <p:cNvPr id="176" name="Google Shape;176;p21"/>
            <p:cNvSpPr/>
            <p:nvPr/>
          </p:nvSpPr>
          <p:spPr>
            <a:xfrm>
              <a:off x="571500" y="1143000"/>
              <a:ext cx="1952700" cy="3238500"/>
            </a:xfrm>
            <a:prstGeom prst="roundRect">
              <a:avLst>
                <a:gd fmla="val 58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21"/>
            <p:cNvSpPr txBox="1"/>
            <p:nvPr/>
          </p:nvSpPr>
          <p:spPr>
            <a:xfrm>
              <a:off x="809625" y="141617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3B82F6"/>
                  </a:solidFill>
                  <a:latin typeface="Material Icons"/>
                  <a:ea typeface="Material Icons"/>
                  <a:cs typeface="Material Icons"/>
                  <a:sym typeface="Material Icons"/>
                </a:rPr>
                <a:t>groups</a:t>
              </a:r>
              <a:endParaRPr sz="2400">
                <a:solidFill>
                  <a:srgbClr val="3B82F6"/>
                </a:solidFill>
                <a:latin typeface="Material Icons"/>
                <a:ea typeface="Material Icons"/>
                <a:cs typeface="Material Icons"/>
                <a:sym typeface="Material Icons"/>
              </a:endParaRPr>
            </a:p>
          </p:txBody>
        </p:sp>
        <p:sp>
          <p:nvSpPr>
            <p:cNvPr id="178" name="Google Shape;178;p21"/>
            <p:cNvSpPr txBox="1"/>
            <p:nvPr/>
          </p:nvSpPr>
          <p:spPr>
            <a:xfrm>
              <a:off x="809625" y="1762125"/>
              <a:ext cx="1524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95">
                  <a:solidFill>
                    <a:srgbClr val="3B82F6"/>
                  </a:solidFill>
                  <a:latin typeface="Inter"/>
                  <a:ea typeface="Inter"/>
                  <a:cs typeface="Inter"/>
                  <a:sym typeface="Inter"/>
                </a:rPr>
                <a:t>Evaluation Modes</a:t>
              </a:r>
              <a:endParaRPr b="1" sz="1295">
                <a:solidFill>
                  <a:srgbClr val="3B82F6"/>
                </a:solidFill>
                <a:latin typeface="Inter"/>
                <a:ea typeface="Inter"/>
                <a:cs typeface="Inter"/>
                <a:sym typeface="Inter"/>
              </a:endParaRPr>
            </a:p>
          </p:txBody>
        </p:sp>
        <p:sp>
          <p:nvSpPr>
            <p:cNvPr id="179" name="Google Shape;179;p21"/>
            <p:cNvSpPr txBox="1"/>
            <p:nvPr/>
          </p:nvSpPr>
          <p:spPr>
            <a:xfrm>
              <a:off x="809625" y="2143125"/>
              <a:ext cx="16521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18">
                  <a:solidFill>
                    <a:srgbClr val="4B5563"/>
                  </a:solidFill>
                  <a:latin typeface="Inter"/>
                  <a:ea typeface="Inter"/>
                  <a:cs typeface="Inter"/>
                  <a:sym typeface="Inter"/>
                </a:rPr>
                <a:t>• Human feedback</a:t>
              </a:r>
              <a:endParaRPr b="0" sz="1018">
                <a:solidFill>
                  <a:srgbClr val="4B5563"/>
                </a:solidFill>
                <a:latin typeface="Inter"/>
                <a:ea typeface="Inter"/>
                <a:cs typeface="Inter"/>
                <a:sym typeface="Inter"/>
              </a:endParaRPr>
            </a:p>
            <a:p>
              <a:pPr indent="0" lvl="0" marL="0" rtl="0" algn="l">
                <a:spcBef>
                  <a:spcPts val="600"/>
                </a:spcBef>
                <a:spcAft>
                  <a:spcPts val="0"/>
                </a:spcAft>
                <a:buNone/>
              </a:pPr>
              <a:r>
                <a:rPr b="0" lang="en" sz="1018">
                  <a:solidFill>
                    <a:srgbClr val="4B5563"/>
                  </a:solidFill>
                  <a:latin typeface="Inter"/>
                  <a:ea typeface="Inter"/>
                  <a:cs typeface="Inter"/>
                  <a:sym typeface="Inter"/>
                </a:rPr>
                <a:t>• Simulated user feedback</a:t>
              </a:r>
              <a:endParaRPr b="0" sz="1018">
                <a:solidFill>
                  <a:srgbClr val="4B5563"/>
                </a:solidFill>
                <a:latin typeface="Inter"/>
                <a:ea typeface="Inter"/>
                <a:cs typeface="Inter"/>
                <a:sym typeface="Inter"/>
              </a:endParaRPr>
            </a:p>
          </p:txBody>
        </p:sp>
      </p:grpSp>
      <p:grpSp>
        <p:nvGrpSpPr>
          <p:cNvPr id="180" name="Google Shape;180;p21"/>
          <p:cNvGrpSpPr/>
          <p:nvPr/>
        </p:nvGrpSpPr>
        <p:grpSpPr>
          <a:xfrm>
            <a:off x="2667000" y="1143000"/>
            <a:ext cx="1952700" cy="3238500"/>
            <a:chOff x="2667000" y="1143000"/>
            <a:chExt cx="1952700" cy="3238500"/>
          </a:xfrm>
        </p:grpSpPr>
        <p:sp>
          <p:nvSpPr>
            <p:cNvPr id="181" name="Google Shape;181;p21"/>
            <p:cNvSpPr/>
            <p:nvPr/>
          </p:nvSpPr>
          <p:spPr>
            <a:xfrm>
              <a:off x="2667000" y="1143000"/>
              <a:ext cx="1952700" cy="3238500"/>
            </a:xfrm>
            <a:prstGeom prst="roundRect">
              <a:avLst>
                <a:gd fmla="val 58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21"/>
            <p:cNvSpPr txBox="1"/>
            <p:nvPr/>
          </p:nvSpPr>
          <p:spPr>
            <a:xfrm>
              <a:off x="2905125" y="141617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3B82F6"/>
                  </a:solidFill>
                  <a:latin typeface="Material Icons"/>
                  <a:ea typeface="Material Icons"/>
                  <a:cs typeface="Material Icons"/>
                  <a:sym typeface="Material Icons"/>
                </a:rPr>
                <a:t>analytics</a:t>
              </a:r>
              <a:endParaRPr sz="2400">
                <a:solidFill>
                  <a:srgbClr val="3B82F6"/>
                </a:solidFill>
                <a:latin typeface="Material Icons"/>
                <a:ea typeface="Material Icons"/>
                <a:cs typeface="Material Icons"/>
                <a:sym typeface="Material Icons"/>
              </a:endParaRPr>
            </a:p>
          </p:txBody>
        </p:sp>
        <p:sp>
          <p:nvSpPr>
            <p:cNvPr id="183" name="Google Shape;183;p21"/>
            <p:cNvSpPr txBox="1"/>
            <p:nvPr/>
          </p:nvSpPr>
          <p:spPr>
            <a:xfrm>
              <a:off x="2905125" y="1762125"/>
              <a:ext cx="1524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95">
                  <a:solidFill>
                    <a:srgbClr val="3B82F6"/>
                  </a:solidFill>
                  <a:latin typeface="Inter"/>
                  <a:ea typeface="Inter"/>
                  <a:cs typeface="Inter"/>
                  <a:sym typeface="Inter"/>
                </a:rPr>
                <a:t>Benchmarks</a:t>
              </a:r>
              <a:endParaRPr b="1" sz="1295">
                <a:solidFill>
                  <a:srgbClr val="3B82F6"/>
                </a:solidFill>
                <a:latin typeface="Inter"/>
                <a:ea typeface="Inter"/>
                <a:cs typeface="Inter"/>
                <a:sym typeface="Inter"/>
              </a:endParaRPr>
            </a:p>
          </p:txBody>
        </p:sp>
        <p:sp>
          <p:nvSpPr>
            <p:cNvPr id="184" name="Google Shape;184;p21"/>
            <p:cNvSpPr txBox="1"/>
            <p:nvPr/>
          </p:nvSpPr>
          <p:spPr>
            <a:xfrm>
              <a:off x="2905125" y="2143125"/>
              <a:ext cx="15240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18">
                  <a:solidFill>
                    <a:srgbClr val="4B5563"/>
                  </a:solidFill>
                  <a:latin typeface="Inter"/>
                  <a:ea typeface="Inter"/>
                  <a:cs typeface="Inter"/>
                  <a:sym typeface="Inter"/>
                </a:rPr>
                <a:t>• HumanEval</a:t>
              </a:r>
              <a:endParaRPr b="0" sz="1018">
                <a:solidFill>
                  <a:srgbClr val="4B5563"/>
                </a:solidFill>
                <a:latin typeface="Inter"/>
                <a:ea typeface="Inter"/>
                <a:cs typeface="Inter"/>
                <a:sym typeface="Inter"/>
              </a:endParaRPr>
            </a:p>
            <a:p>
              <a:pPr indent="0" lvl="0" marL="0" rtl="0" algn="l">
                <a:spcBef>
                  <a:spcPts val="300"/>
                </a:spcBef>
                <a:spcAft>
                  <a:spcPts val="0"/>
                </a:spcAft>
                <a:buNone/>
              </a:pPr>
              <a:r>
                <a:rPr b="0" lang="en" sz="1018">
                  <a:solidFill>
                    <a:srgbClr val="4B5563"/>
                  </a:solidFill>
                  <a:latin typeface="Inter"/>
                  <a:ea typeface="Inter"/>
                  <a:cs typeface="Inter"/>
                  <a:sym typeface="Inter"/>
                </a:rPr>
                <a:t>• HumanEval-ET</a:t>
              </a:r>
              <a:endParaRPr b="0" sz="1018">
                <a:solidFill>
                  <a:srgbClr val="4B5563"/>
                </a:solidFill>
                <a:latin typeface="Inter"/>
                <a:ea typeface="Inter"/>
                <a:cs typeface="Inter"/>
                <a:sym typeface="Inter"/>
              </a:endParaRPr>
            </a:p>
            <a:p>
              <a:pPr indent="0" lvl="0" marL="0" rtl="0" algn="l">
                <a:spcBef>
                  <a:spcPts val="300"/>
                </a:spcBef>
                <a:spcAft>
                  <a:spcPts val="0"/>
                </a:spcAft>
                <a:buNone/>
              </a:pPr>
              <a:r>
                <a:rPr b="0" lang="en" sz="1018">
                  <a:solidFill>
                    <a:srgbClr val="4B5563"/>
                  </a:solidFill>
                  <a:latin typeface="Inter"/>
                  <a:ea typeface="Inter"/>
                  <a:cs typeface="Inter"/>
                  <a:sym typeface="Inter"/>
                </a:rPr>
                <a:t>• MBPP-sanitized</a:t>
              </a:r>
              <a:endParaRPr b="0" sz="1018">
                <a:solidFill>
                  <a:srgbClr val="4B5563"/>
                </a:solidFill>
                <a:latin typeface="Inter"/>
                <a:ea typeface="Inter"/>
                <a:cs typeface="Inter"/>
                <a:sym typeface="Inter"/>
              </a:endParaRPr>
            </a:p>
            <a:p>
              <a:pPr indent="0" lvl="0" marL="0" rtl="0" algn="l">
                <a:spcBef>
                  <a:spcPts val="300"/>
                </a:spcBef>
                <a:spcAft>
                  <a:spcPts val="0"/>
                </a:spcAft>
                <a:buNone/>
              </a:pPr>
              <a:r>
                <a:rPr b="0" lang="en" sz="1018">
                  <a:solidFill>
                    <a:srgbClr val="4B5563"/>
                  </a:solidFill>
                  <a:latin typeface="Inter"/>
                  <a:ea typeface="Inter"/>
                  <a:cs typeface="Inter"/>
                  <a:sym typeface="Inter"/>
                </a:rPr>
                <a:t>• MBPP-ET</a:t>
              </a:r>
              <a:endParaRPr b="0" sz="1018">
                <a:solidFill>
                  <a:srgbClr val="4B5563"/>
                </a:solidFill>
                <a:latin typeface="Inter"/>
                <a:ea typeface="Inter"/>
                <a:cs typeface="Inter"/>
                <a:sym typeface="Inter"/>
              </a:endParaRPr>
            </a:p>
          </p:txBody>
        </p:sp>
      </p:grpSp>
      <p:grpSp>
        <p:nvGrpSpPr>
          <p:cNvPr id="185" name="Google Shape;185;p21"/>
          <p:cNvGrpSpPr/>
          <p:nvPr/>
        </p:nvGrpSpPr>
        <p:grpSpPr>
          <a:xfrm>
            <a:off x="4762500" y="1143000"/>
            <a:ext cx="1952700" cy="1524000"/>
            <a:chOff x="4762500" y="1143000"/>
            <a:chExt cx="1952700" cy="1524000"/>
          </a:xfrm>
        </p:grpSpPr>
        <p:sp>
          <p:nvSpPr>
            <p:cNvPr id="186" name="Google Shape;186;p21"/>
            <p:cNvSpPr/>
            <p:nvPr/>
          </p:nvSpPr>
          <p:spPr>
            <a:xfrm>
              <a:off x="4762500" y="1143000"/>
              <a:ext cx="1952700" cy="15240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21"/>
            <p:cNvSpPr txBox="1"/>
            <p:nvPr/>
          </p:nvSpPr>
          <p:spPr>
            <a:xfrm>
              <a:off x="5000625" y="141617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3B82F6"/>
                  </a:solidFill>
                  <a:latin typeface="Material Icons"/>
                  <a:ea typeface="Material Icons"/>
                  <a:cs typeface="Material Icons"/>
                  <a:sym typeface="Material Icons"/>
                </a:rPr>
                <a:t>speed</a:t>
              </a:r>
              <a:endParaRPr sz="2400">
                <a:solidFill>
                  <a:srgbClr val="3B82F6"/>
                </a:solidFill>
                <a:latin typeface="Material Icons"/>
                <a:ea typeface="Material Icons"/>
                <a:cs typeface="Material Icons"/>
                <a:sym typeface="Material Icons"/>
              </a:endParaRPr>
            </a:p>
          </p:txBody>
        </p:sp>
        <p:sp>
          <p:nvSpPr>
            <p:cNvPr id="188" name="Google Shape;188;p21"/>
            <p:cNvSpPr txBox="1"/>
            <p:nvPr/>
          </p:nvSpPr>
          <p:spPr>
            <a:xfrm>
              <a:off x="5000625" y="1762125"/>
              <a:ext cx="1524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95">
                  <a:solidFill>
                    <a:srgbClr val="3B82F6"/>
                  </a:solidFill>
                  <a:latin typeface="Inter"/>
                  <a:ea typeface="Inter"/>
                  <a:cs typeface="Inter"/>
                  <a:sym typeface="Inter"/>
                </a:rPr>
                <a:t>Metric</a:t>
              </a:r>
              <a:endParaRPr b="1" sz="1295">
                <a:solidFill>
                  <a:srgbClr val="3B82F6"/>
                </a:solidFill>
                <a:latin typeface="Inter"/>
                <a:ea typeface="Inter"/>
                <a:cs typeface="Inter"/>
                <a:sym typeface="Inter"/>
              </a:endParaRPr>
            </a:p>
          </p:txBody>
        </p:sp>
        <p:sp>
          <p:nvSpPr>
            <p:cNvPr id="189" name="Google Shape;189;p21"/>
            <p:cNvSpPr txBox="1"/>
            <p:nvPr/>
          </p:nvSpPr>
          <p:spPr>
            <a:xfrm>
              <a:off x="5000625" y="2048025"/>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18">
                  <a:solidFill>
                    <a:srgbClr val="4B5563"/>
                  </a:solidFill>
                  <a:latin typeface="Inter"/>
                  <a:ea typeface="Inter"/>
                  <a:cs typeface="Inter"/>
                  <a:sym typeface="Inter"/>
                </a:rPr>
                <a:t>• Pass@1</a:t>
              </a:r>
              <a:endParaRPr b="0" sz="1018">
                <a:solidFill>
                  <a:srgbClr val="4B5563"/>
                </a:solidFill>
                <a:latin typeface="Inter"/>
                <a:ea typeface="Inter"/>
                <a:cs typeface="Inter"/>
                <a:sym typeface="Inter"/>
              </a:endParaRPr>
            </a:p>
          </p:txBody>
        </p:sp>
      </p:grpSp>
      <p:grpSp>
        <p:nvGrpSpPr>
          <p:cNvPr id="190" name="Google Shape;190;p21"/>
          <p:cNvGrpSpPr/>
          <p:nvPr/>
        </p:nvGrpSpPr>
        <p:grpSpPr>
          <a:xfrm>
            <a:off x="4762500" y="2857500"/>
            <a:ext cx="1952700" cy="1524000"/>
            <a:chOff x="4762500" y="2857500"/>
            <a:chExt cx="1952700" cy="1524000"/>
          </a:xfrm>
        </p:grpSpPr>
        <p:sp>
          <p:nvSpPr>
            <p:cNvPr id="191" name="Google Shape;191;p21"/>
            <p:cNvSpPr/>
            <p:nvPr/>
          </p:nvSpPr>
          <p:spPr>
            <a:xfrm>
              <a:off x="4762500" y="2857500"/>
              <a:ext cx="1952700" cy="15240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21"/>
            <p:cNvSpPr txBox="1"/>
            <p:nvPr/>
          </p:nvSpPr>
          <p:spPr>
            <a:xfrm>
              <a:off x="5000625" y="303542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3B82F6"/>
                  </a:solidFill>
                  <a:latin typeface="Material Icons"/>
                  <a:ea typeface="Material Icons"/>
                  <a:cs typeface="Material Icons"/>
                  <a:sym typeface="Material Icons"/>
                </a:rPr>
                <a:t>compare_arrows</a:t>
              </a:r>
              <a:endParaRPr sz="2400">
                <a:solidFill>
                  <a:srgbClr val="3B82F6"/>
                </a:solidFill>
                <a:latin typeface="Material Icons"/>
                <a:ea typeface="Material Icons"/>
                <a:cs typeface="Material Icons"/>
                <a:sym typeface="Material Icons"/>
              </a:endParaRPr>
            </a:p>
          </p:txBody>
        </p:sp>
        <p:sp>
          <p:nvSpPr>
            <p:cNvPr id="193" name="Google Shape;193;p21"/>
            <p:cNvSpPr txBox="1"/>
            <p:nvPr/>
          </p:nvSpPr>
          <p:spPr>
            <a:xfrm>
              <a:off x="5000625" y="3381375"/>
              <a:ext cx="1524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95">
                  <a:solidFill>
                    <a:srgbClr val="3B82F6"/>
                  </a:solidFill>
                  <a:latin typeface="Inter"/>
                  <a:ea typeface="Inter"/>
                  <a:cs typeface="Inter"/>
                  <a:sym typeface="Inter"/>
                </a:rPr>
                <a:t>Baselines</a:t>
              </a:r>
              <a:endParaRPr b="1" sz="1295">
                <a:solidFill>
                  <a:srgbClr val="3B82F6"/>
                </a:solidFill>
                <a:latin typeface="Inter"/>
                <a:ea typeface="Inter"/>
                <a:cs typeface="Inter"/>
                <a:sym typeface="Inter"/>
              </a:endParaRPr>
            </a:p>
          </p:txBody>
        </p:sp>
        <p:sp>
          <p:nvSpPr>
            <p:cNvPr id="194" name="Google Shape;194;p21"/>
            <p:cNvSpPr txBox="1"/>
            <p:nvPr/>
          </p:nvSpPr>
          <p:spPr>
            <a:xfrm>
              <a:off x="5000625" y="3667275"/>
              <a:ext cx="1524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18">
                  <a:solidFill>
                    <a:srgbClr val="4B5563"/>
                  </a:solidFill>
                  <a:latin typeface="Inter"/>
                  <a:ea typeface="Inter"/>
                  <a:cs typeface="Inter"/>
                  <a:sym typeface="Inter"/>
                </a:rPr>
                <a:t>• Default LLM</a:t>
              </a:r>
              <a:endParaRPr b="0" sz="1018">
                <a:solidFill>
                  <a:srgbClr val="4B5563"/>
                </a:solidFill>
                <a:latin typeface="Inter"/>
                <a:ea typeface="Inter"/>
                <a:cs typeface="Inter"/>
                <a:sym typeface="Inter"/>
              </a:endParaRPr>
            </a:p>
            <a:p>
              <a:pPr indent="0" lvl="0" marL="0" rtl="0" algn="l">
                <a:spcBef>
                  <a:spcPts val="300"/>
                </a:spcBef>
                <a:spcAft>
                  <a:spcPts val="0"/>
                </a:spcAft>
                <a:buNone/>
              </a:pPr>
              <a:r>
                <a:rPr b="0" lang="en" sz="1018">
                  <a:solidFill>
                    <a:srgbClr val="4B5563"/>
                  </a:solidFill>
                  <a:latin typeface="Inter"/>
                  <a:ea typeface="Inter"/>
                  <a:cs typeface="Inter"/>
                  <a:sym typeface="Inter"/>
                </a:rPr>
                <a:t>• Chain-of-Thought</a:t>
              </a:r>
              <a:endParaRPr b="0" sz="1018">
                <a:solidFill>
                  <a:srgbClr val="4B5563"/>
                </a:solidFill>
                <a:latin typeface="Inter"/>
                <a:ea typeface="Inter"/>
                <a:cs typeface="Inter"/>
                <a:sym typeface="Inter"/>
              </a:endParaRPr>
            </a:p>
            <a:p>
              <a:pPr indent="0" lvl="0" marL="0" rtl="0" algn="l">
                <a:spcBef>
                  <a:spcPts val="300"/>
                </a:spcBef>
                <a:spcAft>
                  <a:spcPts val="0"/>
                </a:spcAft>
                <a:buNone/>
              </a:pPr>
              <a:r>
                <a:rPr b="0" lang="en" sz="1018">
                  <a:solidFill>
                    <a:srgbClr val="4B5563"/>
                  </a:solidFill>
                  <a:latin typeface="Inter"/>
                  <a:ea typeface="Inter"/>
                  <a:cs typeface="Inter"/>
                  <a:sym typeface="Inter"/>
                </a:rPr>
                <a:t>• GPT-Engineer</a:t>
              </a:r>
              <a:endParaRPr b="0" sz="1018">
                <a:solidFill>
                  <a:srgbClr val="4B5563"/>
                </a:solidFill>
                <a:latin typeface="Inter"/>
                <a:ea typeface="Inter"/>
                <a:cs typeface="Inter"/>
                <a:sym typeface="In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2"/>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00" name="Google Shape;200;p22"/>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201" name="Google Shape;201;p22"/>
          <p:cNvSpPr/>
          <p:nvPr/>
        </p:nvSpPr>
        <p:spPr>
          <a:xfrm>
            <a:off x="571500" y="381000"/>
            <a:ext cx="28500" cy="381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22"/>
          <p:cNvSpPr txBox="1"/>
          <p:nvPr/>
        </p:nvSpPr>
        <p:spPr>
          <a:xfrm>
            <a:off x="762000" y="381000"/>
            <a:ext cx="666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Human Evaluation Results</a:t>
            </a:r>
            <a:endParaRPr b="0" sz="2400">
              <a:solidFill>
                <a:srgbClr val="1A1A1A"/>
              </a:solidFill>
              <a:latin typeface="Inter ExtraBold"/>
              <a:ea typeface="Inter ExtraBold"/>
              <a:cs typeface="Inter ExtraBold"/>
              <a:sym typeface="Inter ExtraBold"/>
            </a:endParaRPr>
          </a:p>
        </p:txBody>
      </p:sp>
      <p:grpSp>
        <p:nvGrpSpPr>
          <p:cNvPr id="203" name="Google Shape;203;p22"/>
          <p:cNvGrpSpPr/>
          <p:nvPr/>
        </p:nvGrpSpPr>
        <p:grpSpPr>
          <a:xfrm>
            <a:off x="571500" y="1143000"/>
            <a:ext cx="3619500" cy="3238500"/>
            <a:chOff x="0" y="0"/>
            <a:chExt cx="3619500" cy="3238500"/>
          </a:xfrm>
        </p:grpSpPr>
        <p:sp>
          <p:nvSpPr>
            <p:cNvPr id="204" name="Google Shape;204;p22"/>
            <p:cNvSpPr/>
            <p:nvPr/>
          </p:nvSpPr>
          <p:spPr>
            <a:xfrm>
              <a:off x="0" y="0"/>
              <a:ext cx="36195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22"/>
            <p:cNvSpPr txBox="1"/>
            <p:nvPr/>
          </p:nvSpPr>
          <p:spPr>
            <a:xfrm>
              <a:off x="238125" y="27317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3B82F6"/>
                  </a:solidFill>
                  <a:latin typeface="Material Icons"/>
                  <a:ea typeface="Material Icons"/>
                  <a:cs typeface="Material Icons"/>
                  <a:sym typeface="Material Icons"/>
                </a:rPr>
                <a:t>groups</a:t>
              </a:r>
              <a:endParaRPr sz="2400">
                <a:solidFill>
                  <a:srgbClr val="3B82F6"/>
                </a:solidFill>
                <a:latin typeface="Material Icons"/>
                <a:ea typeface="Material Icons"/>
                <a:cs typeface="Material Icons"/>
                <a:sym typeface="Material Icons"/>
              </a:endParaRPr>
            </a:p>
          </p:txBody>
        </p:sp>
        <p:sp>
          <p:nvSpPr>
            <p:cNvPr id="206" name="Google Shape;206;p22"/>
            <p:cNvSpPr txBox="1"/>
            <p:nvPr/>
          </p:nvSpPr>
          <p:spPr>
            <a:xfrm>
              <a:off x="714375" y="238125"/>
              <a:ext cx="2667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3B82F6"/>
                  </a:solidFill>
                  <a:latin typeface="Inter"/>
                  <a:ea typeface="Inter"/>
                  <a:cs typeface="Inter"/>
                  <a:sym typeface="Inter"/>
                </a:rPr>
                <a:t>Participant Profile</a:t>
              </a:r>
              <a:endParaRPr b="1" sz="1300">
                <a:solidFill>
                  <a:srgbClr val="3B82F6"/>
                </a:solidFill>
                <a:latin typeface="Inter"/>
                <a:ea typeface="Inter"/>
                <a:cs typeface="Inter"/>
                <a:sym typeface="Inter"/>
              </a:endParaRPr>
            </a:p>
          </p:txBody>
        </p:sp>
        <p:sp>
          <p:nvSpPr>
            <p:cNvPr id="207" name="Google Shape;207;p22"/>
            <p:cNvSpPr txBox="1"/>
            <p:nvPr/>
          </p:nvSpPr>
          <p:spPr>
            <a:xfrm>
              <a:off x="238050" y="649275"/>
              <a:ext cx="3143400" cy="194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4B5563"/>
                  </a:solidFill>
                  <a:latin typeface="Inter"/>
                  <a:ea typeface="Inter"/>
                  <a:cs typeface="Inter"/>
                  <a:sym typeface="Inter"/>
                </a:rPr>
                <a:t>• 10 participants answered ClarifyGPT’s questions</a:t>
              </a:r>
              <a:endParaRPr b="0" sz="1100">
                <a:solidFill>
                  <a:srgbClr val="4B5563"/>
                </a:solidFill>
                <a:latin typeface="Inter"/>
                <a:ea typeface="Inter"/>
                <a:cs typeface="Inter"/>
                <a:sym typeface="Inter"/>
              </a:endParaRPr>
            </a:p>
            <a:p>
              <a:pPr indent="0" lvl="0" marL="0" rtl="0" algn="l">
                <a:spcBef>
                  <a:spcPts val="1200"/>
                </a:spcBef>
                <a:spcAft>
                  <a:spcPts val="0"/>
                </a:spcAft>
                <a:buNone/>
              </a:pPr>
              <a:r>
                <a:rPr b="0" lang="en" sz="1100">
                  <a:solidFill>
                    <a:srgbClr val="4B5563"/>
                  </a:solidFill>
                  <a:latin typeface="Inter"/>
                  <a:ea typeface="Inter"/>
                  <a:cs typeface="Inter"/>
                  <a:sym typeface="Inter"/>
                </a:rPr>
                <a:t>• Diverse group including researchers, students, and developers</a:t>
              </a:r>
              <a:endParaRPr b="0" sz="1100">
                <a:solidFill>
                  <a:srgbClr val="4B5563"/>
                </a:solidFill>
                <a:latin typeface="Inter"/>
                <a:ea typeface="Inter"/>
                <a:cs typeface="Inter"/>
                <a:sym typeface="Inter"/>
              </a:endParaRPr>
            </a:p>
            <a:p>
              <a:pPr indent="0" lvl="0" marL="0" rtl="0" algn="l">
                <a:spcBef>
                  <a:spcPts val="1200"/>
                </a:spcBef>
                <a:spcAft>
                  <a:spcPts val="1200"/>
                </a:spcAft>
                <a:buNone/>
              </a:pPr>
              <a:r>
                <a:rPr b="0" lang="en" sz="1100">
                  <a:solidFill>
                    <a:srgbClr val="4B5563"/>
                  </a:solidFill>
                  <a:latin typeface="Inter"/>
                  <a:ea typeface="Inter"/>
                  <a:cs typeface="Inter"/>
                  <a:sym typeface="Inter"/>
                </a:rPr>
                <a:t>• Evaluated targeted clarifying questions against baseline code generation</a:t>
              </a:r>
              <a:endParaRPr b="0" sz="1100">
                <a:solidFill>
                  <a:srgbClr val="4B5563"/>
                </a:solidFill>
                <a:latin typeface="Inter"/>
                <a:ea typeface="Inter"/>
                <a:cs typeface="Inter"/>
                <a:sym typeface="Inter"/>
              </a:endParaRPr>
            </a:p>
          </p:txBody>
        </p:sp>
      </p:grpSp>
      <p:grpSp>
        <p:nvGrpSpPr>
          <p:cNvPr id="208" name="Google Shape;208;p22"/>
          <p:cNvGrpSpPr/>
          <p:nvPr/>
        </p:nvGrpSpPr>
        <p:grpSpPr>
          <a:xfrm>
            <a:off x="4381500" y="1143000"/>
            <a:ext cx="2667000" cy="3238500"/>
            <a:chOff x="0" y="0"/>
            <a:chExt cx="2667000" cy="3238500"/>
          </a:xfrm>
        </p:grpSpPr>
        <p:sp>
          <p:nvSpPr>
            <p:cNvPr id="209" name="Google Shape;209;p22"/>
            <p:cNvSpPr/>
            <p:nvPr/>
          </p:nvSpPr>
          <p:spPr>
            <a:xfrm>
              <a:off x="0" y="0"/>
              <a:ext cx="2667000" cy="32385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22"/>
            <p:cNvSpPr txBox="1"/>
            <p:nvPr/>
          </p:nvSpPr>
          <p:spPr>
            <a:xfrm>
              <a:off x="190500" y="190500"/>
              <a:ext cx="2286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E40AF"/>
                  </a:solidFill>
                  <a:latin typeface="Inter"/>
                  <a:ea typeface="Inter"/>
                  <a:cs typeface="Inter"/>
                  <a:sym typeface="Inter"/>
                </a:rPr>
                <a:t>GPT-4 ON MBPP-SANITIZED</a:t>
              </a:r>
              <a:endParaRPr b="1" sz="1000">
                <a:solidFill>
                  <a:srgbClr val="1E40AF"/>
                </a:solidFill>
                <a:latin typeface="Inter"/>
                <a:ea typeface="Inter"/>
                <a:cs typeface="Inter"/>
                <a:sym typeface="Inter"/>
              </a:endParaRPr>
            </a:p>
          </p:txBody>
        </p:sp>
        <p:sp>
          <p:nvSpPr>
            <p:cNvPr id="211" name="Google Shape;211;p22"/>
            <p:cNvSpPr txBox="1"/>
            <p:nvPr/>
          </p:nvSpPr>
          <p:spPr>
            <a:xfrm>
              <a:off x="190500" y="523875"/>
              <a:ext cx="2286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94A3B8"/>
                  </a:solidFill>
                  <a:latin typeface="Inter"/>
                  <a:ea typeface="Inter"/>
                  <a:cs typeface="Inter"/>
                  <a:sym typeface="Inter"/>
                </a:rPr>
                <a:t>70.96%</a:t>
              </a:r>
              <a:r>
                <a:rPr lang="en" sz="1800">
                  <a:solidFill>
                    <a:srgbClr val="10B981"/>
                  </a:solidFill>
                  <a:latin typeface="Material Icons"/>
                  <a:ea typeface="Material Icons"/>
                  <a:cs typeface="Material Icons"/>
                  <a:sym typeface="Material Icons"/>
                </a:rPr>
                <a:t>trending_up</a:t>
              </a:r>
              <a:r>
                <a:rPr b="0" lang="en" sz="2000">
                  <a:solidFill>
                    <a:srgbClr val="3B82F6"/>
                  </a:solidFill>
                  <a:latin typeface="Inter ExtraBold"/>
                  <a:ea typeface="Inter ExtraBold"/>
                  <a:cs typeface="Inter ExtraBold"/>
                  <a:sym typeface="Inter ExtraBold"/>
                </a:rPr>
                <a:t>80.80%</a:t>
              </a:r>
              <a:endParaRPr/>
            </a:p>
          </p:txBody>
        </p:sp>
        <p:cxnSp>
          <p:nvCxnSpPr>
            <p:cNvPr id="212" name="Google Shape;212;p22"/>
            <p:cNvCxnSpPr/>
            <p:nvPr/>
          </p:nvCxnSpPr>
          <p:spPr>
            <a:xfrm>
              <a:off x="381000" y="1238250"/>
              <a:ext cx="1905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13" name="Google Shape;213;p22"/>
            <p:cNvSpPr txBox="1"/>
            <p:nvPr/>
          </p:nvSpPr>
          <p:spPr>
            <a:xfrm>
              <a:off x="190500" y="1428750"/>
              <a:ext cx="2286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E40AF"/>
                  </a:solidFill>
                  <a:latin typeface="Inter"/>
                  <a:ea typeface="Inter"/>
                  <a:cs typeface="Inter"/>
                  <a:sym typeface="Inter"/>
                </a:rPr>
                <a:t>GPT-4 ON MBPP-ET</a:t>
              </a:r>
              <a:endParaRPr b="1" sz="1000">
                <a:solidFill>
                  <a:srgbClr val="1E40AF"/>
                </a:solidFill>
                <a:latin typeface="Inter"/>
                <a:ea typeface="Inter"/>
                <a:cs typeface="Inter"/>
                <a:sym typeface="Inter"/>
              </a:endParaRPr>
            </a:p>
          </p:txBody>
        </p:sp>
        <p:sp>
          <p:nvSpPr>
            <p:cNvPr id="214" name="Google Shape;214;p22"/>
            <p:cNvSpPr txBox="1"/>
            <p:nvPr/>
          </p:nvSpPr>
          <p:spPr>
            <a:xfrm>
              <a:off x="190500" y="1762125"/>
              <a:ext cx="2286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94A3B8"/>
                  </a:solidFill>
                  <a:latin typeface="Inter"/>
                  <a:ea typeface="Inter"/>
                  <a:cs typeface="Inter"/>
                  <a:sym typeface="Inter"/>
                </a:rPr>
                <a:t>51.52%</a:t>
              </a:r>
              <a:r>
                <a:rPr lang="en" sz="1800">
                  <a:solidFill>
                    <a:srgbClr val="10B981"/>
                  </a:solidFill>
                  <a:latin typeface="Material Icons"/>
                  <a:ea typeface="Material Icons"/>
                  <a:cs typeface="Material Icons"/>
                  <a:sym typeface="Material Icons"/>
                </a:rPr>
                <a:t>trending_up</a:t>
              </a:r>
              <a:r>
                <a:rPr b="0" lang="en" sz="2000">
                  <a:solidFill>
                    <a:srgbClr val="3B82F6"/>
                  </a:solidFill>
                  <a:latin typeface="Inter ExtraBold"/>
                  <a:ea typeface="Inter ExtraBold"/>
                  <a:cs typeface="Inter ExtraBold"/>
                  <a:sym typeface="Inter ExtraBold"/>
                </a:rPr>
                <a:t>60.19%</a:t>
              </a:r>
              <a:endParaRPr/>
            </a:p>
          </p:txBody>
        </p:sp>
        <p:sp>
          <p:nvSpPr>
            <p:cNvPr id="215" name="Google Shape;215;p22"/>
            <p:cNvSpPr/>
            <p:nvPr/>
          </p:nvSpPr>
          <p:spPr>
            <a:xfrm>
              <a:off x="190500" y="2476500"/>
              <a:ext cx="2286000" cy="571500"/>
            </a:xfrm>
            <a:prstGeom prst="roundRect">
              <a:avLst>
                <a:gd fmla="val 13333"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22"/>
            <p:cNvSpPr txBox="1"/>
            <p:nvPr/>
          </p:nvSpPr>
          <p:spPr>
            <a:xfrm>
              <a:off x="285750" y="2524125"/>
              <a:ext cx="2095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3B82F6"/>
                  </a:solidFill>
                  <a:latin typeface="Inter SemiBold"/>
                  <a:ea typeface="Inter SemiBold"/>
                  <a:cs typeface="Inter SemiBold"/>
                  <a:sym typeface="Inter SemiBold"/>
                </a:rPr>
                <a:t>AVG. RELATIVE IMPROVEMENT</a:t>
              </a:r>
              <a:endParaRPr b="0" sz="800">
                <a:solidFill>
                  <a:srgbClr val="3B82F6"/>
                </a:solidFill>
                <a:latin typeface="Inter SemiBold"/>
                <a:ea typeface="Inter SemiBold"/>
                <a:cs typeface="Inter SemiBold"/>
                <a:sym typeface="Inter SemiBold"/>
              </a:endParaRPr>
            </a:p>
          </p:txBody>
        </p:sp>
        <p:sp>
          <p:nvSpPr>
            <p:cNvPr id="217" name="Google Shape;217;p22"/>
            <p:cNvSpPr txBox="1"/>
            <p:nvPr/>
          </p:nvSpPr>
          <p:spPr>
            <a:xfrm>
              <a:off x="285750" y="2667000"/>
              <a:ext cx="2095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035">
                  <a:solidFill>
                    <a:srgbClr val="1D4ED8"/>
                  </a:solidFill>
                  <a:latin typeface="Inter ExtraBold"/>
                  <a:ea typeface="Inter ExtraBold"/>
                  <a:cs typeface="Inter ExtraBold"/>
                  <a:sym typeface="Inter ExtraBold"/>
                </a:rPr>
                <a:t>+15.35%</a:t>
              </a:r>
              <a:endParaRPr b="0" sz="2035">
                <a:solidFill>
                  <a:srgbClr val="1D4ED8"/>
                </a:solidFill>
                <a:latin typeface="Inter ExtraBold"/>
                <a:ea typeface="Inter ExtraBold"/>
                <a:cs typeface="Inter ExtraBold"/>
                <a:sym typeface="Inter ExtraBold"/>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21" name="Shape 221"/>
        <p:cNvGrpSpPr/>
        <p:nvPr/>
      </p:nvGrpSpPr>
      <p:grpSpPr>
        <a:xfrm>
          <a:off x="0" y="0"/>
          <a:ext cx="0" cy="0"/>
          <a:chOff x="0" y="0"/>
          <a:chExt cx="0" cy="0"/>
        </a:xfrm>
      </p:grpSpPr>
      <p:pic>
        <p:nvPicPr>
          <p:cNvPr id="222" name="Google Shape;222;p23"/>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223" name="Google Shape;223;p23"/>
          <p:cNvSpPr/>
          <p:nvPr/>
        </p:nvSpPr>
        <p:spPr>
          <a:xfrm>
            <a:off x="571500" y="381000"/>
            <a:ext cx="28500" cy="381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762000" y="381000"/>
            <a:ext cx="666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Simulated Feedback Results</a:t>
            </a:r>
            <a:endParaRPr b="0" sz="2400">
              <a:solidFill>
                <a:srgbClr val="1A1A1A"/>
              </a:solidFill>
              <a:latin typeface="Inter ExtraBold"/>
              <a:ea typeface="Inter ExtraBold"/>
              <a:cs typeface="Inter ExtraBold"/>
              <a:sym typeface="Inter ExtraBold"/>
            </a:endParaRPr>
          </a:p>
        </p:txBody>
      </p:sp>
      <p:grpSp>
        <p:nvGrpSpPr>
          <p:cNvPr id="225" name="Google Shape;225;p23"/>
          <p:cNvGrpSpPr/>
          <p:nvPr/>
        </p:nvGrpSpPr>
        <p:grpSpPr>
          <a:xfrm>
            <a:off x="571500" y="1143000"/>
            <a:ext cx="3619500" cy="3238500"/>
            <a:chOff x="571500" y="1143000"/>
            <a:chExt cx="3619500" cy="3238500"/>
          </a:xfrm>
        </p:grpSpPr>
        <p:sp>
          <p:nvSpPr>
            <p:cNvPr id="226" name="Google Shape;226;p23"/>
            <p:cNvSpPr/>
            <p:nvPr/>
          </p:nvSpPr>
          <p:spPr>
            <a:xfrm>
              <a:off x="571500" y="1143000"/>
              <a:ext cx="36195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23"/>
            <p:cNvSpPr txBox="1"/>
            <p:nvPr/>
          </p:nvSpPr>
          <p:spPr>
            <a:xfrm>
              <a:off x="809625" y="1416177"/>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3B82F6"/>
                  </a:solidFill>
                  <a:latin typeface="Material Icons"/>
                  <a:ea typeface="Material Icons"/>
                  <a:cs typeface="Material Icons"/>
                  <a:sym typeface="Material Icons"/>
                </a:rPr>
                <a:t>computer</a:t>
              </a:r>
              <a:endParaRPr sz="2400">
                <a:solidFill>
                  <a:srgbClr val="3B82F6"/>
                </a:solidFill>
                <a:latin typeface="Material Icons"/>
                <a:ea typeface="Material Icons"/>
                <a:cs typeface="Material Icons"/>
                <a:sym typeface="Material Icons"/>
              </a:endParaRPr>
            </a:p>
          </p:txBody>
        </p:sp>
        <p:sp>
          <p:nvSpPr>
            <p:cNvPr id="228" name="Google Shape;228;p23"/>
            <p:cNvSpPr txBox="1"/>
            <p:nvPr/>
          </p:nvSpPr>
          <p:spPr>
            <a:xfrm>
              <a:off x="1285875" y="1381125"/>
              <a:ext cx="2667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3B82F6"/>
                  </a:solidFill>
                  <a:latin typeface="Inter"/>
                  <a:ea typeface="Inter"/>
                  <a:cs typeface="Inter"/>
                  <a:sym typeface="Inter"/>
                </a:rPr>
                <a:t>Automated Evaluation</a:t>
              </a:r>
              <a:endParaRPr b="1" sz="1300">
                <a:solidFill>
                  <a:srgbClr val="3B82F6"/>
                </a:solidFill>
                <a:latin typeface="Inter"/>
                <a:ea typeface="Inter"/>
                <a:cs typeface="Inter"/>
                <a:sym typeface="Inter"/>
              </a:endParaRPr>
            </a:p>
          </p:txBody>
        </p:sp>
        <p:sp>
          <p:nvSpPr>
            <p:cNvPr id="229" name="Google Shape;229;p23"/>
            <p:cNvSpPr txBox="1"/>
            <p:nvPr/>
          </p:nvSpPr>
          <p:spPr>
            <a:xfrm>
              <a:off x="809625" y="1857375"/>
              <a:ext cx="31434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B5563"/>
                  </a:solidFill>
                  <a:latin typeface="Inter"/>
                  <a:ea typeface="Inter"/>
                  <a:cs typeface="Inter"/>
                  <a:sym typeface="Inter"/>
                </a:rPr>
                <a:t>• Used LLM-based simulation to scale evaluation</a:t>
              </a:r>
              <a:endParaRPr b="0" sz="1100">
                <a:solidFill>
                  <a:srgbClr val="4B5563"/>
                </a:solidFill>
                <a:latin typeface="Inter"/>
                <a:ea typeface="Inter"/>
                <a:cs typeface="Inter"/>
                <a:sym typeface="Inter"/>
              </a:endParaRPr>
            </a:p>
            <a:p>
              <a:pPr indent="0" lvl="0" marL="0" rtl="0" algn="l">
                <a:spcBef>
                  <a:spcPts val="1200"/>
                </a:spcBef>
                <a:spcAft>
                  <a:spcPts val="0"/>
                </a:spcAft>
                <a:buNone/>
              </a:pPr>
              <a:r>
                <a:rPr b="0" lang="en" sz="1100">
                  <a:solidFill>
                    <a:srgbClr val="4B5563"/>
                  </a:solidFill>
                  <a:latin typeface="Inter"/>
                  <a:ea typeface="Inter"/>
                  <a:cs typeface="Inter"/>
                  <a:sym typeface="Inter"/>
                </a:rPr>
                <a:t>• ClarifyGPT outperformed Default, CoT, and GPT-Engineer</a:t>
              </a:r>
              <a:endParaRPr b="0" sz="1100">
                <a:solidFill>
                  <a:srgbClr val="4B5563"/>
                </a:solidFill>
                <a:latin typeface="Inter"/>
                <a:ea typeface="Inter"/>
                <a:cs typeface="Inter"/>
                <a:sym typeface="Inter"/>
              </a:endParaRPr>
            </a:p>
            <a:p>
              <a:pPr indent="0" lvl="0" marL="0" rtl="0" algn="l">
                <a:spcBef>
                  <a:spcPts val="1200"/>
                </a:spcBef>
                <a:spcAft>
                  <a:spcPts val="1200"/>
                </a:spcAft>
                <a:buNone/>
              </a:pPr>
              <a:r>
                <a:rPr b="0" lang="en" sz="1100">
                  <a:solidFill>
                    <a:srgbClr val="4B5563"/>
                  </a:solidFill>
                  <a:latin typeface="Inter"/>
                  <a:ea typeface="Inter"/>
                  <a:cs typeface="Inter"/>
                  <a:sym typeface="Inter"/>
                </a:rPr>
                <a:t>• Key reason: it asks only when ambiguity is detected</a:t>
              </a:r>
              <a:endParaRPr b="0" sz="1100">
                <a:solidFill>
                  <a:srgbClr val="4B5563"/>
                </a:solidFill>
                <a:latin typeface="Inter"/>
                <a:ea typeface="Inter"/>
                <a:cs typeface="Inter"/>
                <a:sym typeface="Inter"/>
              </a:endParaRPr>
            </a:p>
          </p:txBody>
        </p:sp>
      </p:grpSp>
      <p:sp>
        <p:nvSpPr>
          <p:cNvPr id="230" name="Google Shape;230;p23"/>
          <p:cNvSpPr/>
          <p:nvPr/>
        </p:nvSpPr>
        <p:spPr>
          <a:xfrm>
            <a:off x="4381500" y="1143000"/>
            <a:ext cx="2667000" cy="32385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1" name="Google Shape;231;p23"/>
          <p:cNvGrpSpPr/>
          <p:nvPr/>
        </p:nvGrpSpPr>
        <p:grpSpPr>
          <a:xfrm>
            <a:off x="4381500" y="1142955"/>
            <a:ext cx="2667000" cy="1227277"/>
            <a:chOff x="4381500" y="1143000"/>
            <a:chExt cx="2667000" cy="1524000"/>
          </a:xfrm>
        </p:grpSpPr>
        <p:sp>
          <p:nvSpPr>
            <p:cNvPr id="232" name="Google Shape;232;p23"/>
            <p:cNvSpPr/>
            <p:nvPr/>
          </p:nvSpPr>
          <p:spPr>
            <a:xfrm>
              <a:off x="4381500" y="1143000"/>
              <a:ext cx="2667000" cy="15240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23"/>
            <p:cNvSpPr txBox="1"/>
            <p:nvPr/>
          </p:nvSpPr>
          <p:spPr>
            <a:xfrm>
              <a:off x="4572000" y="1333500"/>
              <a:ext cx="2286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E40AF"/>
                  </a:solidFill>
                  <a:latin typeface="Inter"/>
                  <a:ea typeface="Inter"/>
                  <a:cs typeface="Inter"/>
                  <a:sym typeface="Inter"/>
                </a:rPr>
                <a:t>GPT-4 AVERAGE PASS@1</a:t>
              </a:r>
              <a:endParaRPr b="1" sz="1000">
                <a:solidFill>
                  <a:srgbClr val="1E40AF"/>
                </a:solidFill>
                <a:latin typeface="Inter"/>
                <a:ea typeface="Inter"/>
                <a:cs typeface="Inter"/>
                <a:sym typeface="Inter"/>
              </a:endParaRPr>
            </a:p>
          </p:txBody>
        </p:sp>
        <p:sp>
          <p:nvSpPr>
            <p:cNvPr id="234" name="Google Shape;234;p23"/>
            <p:cNvSpPr txBox="1"/>
            <p:nvPr/>
          </p:nvSpPr>
          <p:spPr>
            <a:xfrm>
              <a:off x="4572000" y="1714500"/>
              <a:ext cx="2286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94A3B8"/>
                  </a:solidFill>
                  <a:latin typeface="Inter"/>
                  <a:ea typeface="Inter"/>
                  <a:cs typeface="Inter"/>
                  <a:sym typeface="Inter"/>
                </a:rPr>
                <a:t>68.02% </a:t>
              </a:r>
              <a:r>
                <a:rPr b="0" lang="en" sz="1800">
                  <a:solidFill>
                    <a:srgbClr val="10B981"/>
                  </a:solidFill>
                  <a:latin typeface="Material Icons"/>
                  <a:ea typeface="Material Icons"/>
                  <a:cs typeface="Material Icons"/>
                  <a:sym typeface="Material Icons"/>
                </a:rPr>
                <a:t>trending_up</a:t>
              </a:r>
              <a:r>
                <a:rPr b="0" lang="en" sz="1200">
                  <a:solidFill>
                    <a:srgbClr val="94A3B8"/>
                  </a:solidFill>
                  <a:latin typeface="Inter"/>
                  <a:ea typeface="Inter"/>
                  <a:cs typeface="Inter"/>
                  <a:sym typeface="Inter"/>
                </a:rPr>
                <a:t> </a:t>
              </a:r>
              <a:r>
                <a:rPr b="0" lang="en" sz="2000">
                  <a:solidFill>
                    <a:srgbClr val="3B82F6"/>
                  </a:solidFill>
                  <a:latin typeface="Inter ExtraBold"/>
                  <a:ea typeface="Inter ExtraBold"/>
                  <a:cs typeface="Inter ExtraBold"/>
                  <a:sym typeface="Inter ExtraBold"/>
                </a:rPr>
                <a:t>75.75%</a:t>
              </a:r>
              <a:endParaRPr b="0" sz="1200">
                <a:solidFill>
                  <a:srgbClr val="94A3B8"/>
                </a:solidFill>
                <a:latin typeface="Inter"/>
                <a:ea typeface="Inter"/>
                <a:cs typeface="Inter"/>
                <a:sym typeface="Inter"/>
              </a:endParaRPr>
            </a:p>
          </p:txBody>
        </p:sp>
      </p:grpSp>
      <p:grpSp>
        <p:nvGrpSpPr>
          <p:cNvPr id="235" name="Google Shape;235;p23"/>
          <p:cNvGrpSpPr/>
          <p:nvPr/>
        </p:nvGrpSpPr>
        <p:grpSpPr>
          <a:xfrm>
            <a:off x="4381500" y="2370127"/>
            <a:ext cx="2667000" cy="1249223"/>
            <a:chOff x="4381500" y="2857500"/>
            <a:chExt cx="2667000" cy="1524000"/>
          </a:xfrm>
        </p:grpSpPr>
        <p:sp>
          <p:nvSpPr>
            <p:cNvPr id="236" name="Google Shape;236;p23"/>
            <p:cNvSpPr/>
            <p:nvPr/>
          </p:nvSpPr>
          <p:spPr>
            <a:xfrm>
              <a:off x="4381500" y="2857500"/>
              <a:ext cx="2667000" cy="15240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23"/>
            <p:cNvSpPr txBox="1"/>
            <p:nvPr/>
          </p:nvSpPr>
          <p:spPr>
            <a:xfrm>
              <a:off x="4572000" y="3048000"/>
              <a:ext cx="2286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E40AF"/>
                  </a:solidFill>
                  <a:latin typeface="Inter"/>
                  <a:ea typeface="Inter"/>
                  <a:cs typeface="Inter"/>
                  <a:sym typeface="Inter"/>
                </a:rPr>
                <a:t>CHATGPT AVERAGE PASS@1</a:t>
              </a:r>
              <a:endParaRPr b="1" sz="1000">
                <a:solidFill>
                  <a:srgbClr val="1E40AF"/>
                </a:solidFill>
                <a:latin typeface="Inter"/>
                <a:ea typeface="Inter"/>
                <a:cs typeface="Inter"/>
                <a:sym typeface="Inter"/>
              </a:endParaRPr>
            </a:p>
          </p:txBody>
        </p:sp>
        <p:sp>
          <p:nvSpPr>
            <p:cNvPr id="238" name="Google Shape;238;p23"/>
            <p:cNvSpPr txBox="1"/>
            <p:nvPr/>
          </p:nvSpPr>
          <p:spPr>
            <a:xfrm>
              <a:off x="4572000" y="3429000"/>
              <a:ext cx="2286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94A3B8"/>
                  </a:solidFill>
                  <a:latin typeface="Inter"/>
                  <a:ea typeface="Inter"/>
                  <a:cs typeface="Inter"/>
                  <a:sym typeface="Inter"/>
                </a:rPr>
                <a:t>58.55% </a:t>
              </a:r>
              <a:r>
                <a:rPr b="0" lang="en" sz="1800">
                  <a:solidFill>
                    <a:srgbClr val="10B981"/>
                  </a:solidFill>
                  <a:latin typeface="Material Icons"/>
                  <a:ea typeface="Material Icons"/>
                  <a:cs typeface="Material Icons"/>
                  <a:sym typeface="Material Icons"/>
                </a:rPr>
                <a:t>trending_up</a:t>
              </a:r>
              <a:r>
                <a:rPr b="0" lang="en" sz="1200">
                  <a:solidFill>
                    <a:srgbClr val="94A3B8"/>
                  </a:solidFill>
                  <a:latin typeface="Inter"/>
                  <a:ea typeface="Inter"/>
                  <a:cs typeface="Inter"/>
                  <a:sym typeface="Inter"/>
                </a:rPr>
                <a:t> </a:t>
              </a:r>
              <a:r>
                <a:rPr b="0" lang="en" sz="2000">
                  <a:solidFill>
                    <a:srgbClr val="3B82F6"/>
                  </a:solidFill>
                  <a:latin typeface="Inter ExtraBold"/>
                  <a:ea typeface="Inter ExtraBold"/>
                  <a:cs typeface="Inter ExtraBold"/>
                  <a:sym typeface="Inter ExtraBold"/>
                </a:rPr>
                <a:t>67.22%</a:t>
              </a:r>
              <a:endParaRPr b="0" sz="1200">
                <a:solidFill>
                  <a:srgbClr val="94A3B8"/>
                </a:solidFill>
                <a:latin typeface="Inter"/>
                <a:ea typeface="Inter"/>
                <a:cs typeface="Inter"/>
                <a:sym typeface="Inter"/>
              </a:endParaRPr>
            </a:p>
          </p:txBody>
        </p:sp>
      </p:grpSp>
      <p:sp>
        <p:nvSpPr>
          <p:cNvPr id="239" name="Google Shape;239;p23"/>
          <p:cNvSpPr txBox="1"/>
          <p:nvPr/>
        </p:nvSpPr>
        <p:spPr>
          <a:xfrm>
            <a:off x="571500" y="4667250"/>
            <a:ext cx="3810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9CA3AF"/>
                </a:solidFill>
                <a:latin typeface="Inter SemiBold"/>
                <a:ea typeface="Inter SemiBold"/>
                <a:cs typeface="Inter SemiBold"/>
                <a:sym typeface="Inter SemiBold"/>
              </a:rPr>
              <a:t>Academic Seminar Series • 2026</a:t>
            </a:r>
            <a:endParaRPr b="0" sz="900">
              <a:solidFill>
                <a:srgbClr val="9CA3AF"/>
              </a:solidFill>
              <a:latin typeface="Inter SemiBold"/>
              <a:ea typeface="Inter SemiBold"/>
              <a:cs typeface="Inter SemiBold"/>
              <a:sym typeface="Inter SemiBold"/>
            </a:endParaRPr>
          </a:p>
        </p:txBody>
      </p:sp>
      <p:grpSp>
        <p:nvGrpSpPr>
          <p:cNvPr id="240" name="Google Shape;240;p23"/>
          <p:cNvGrpSpPr/>
          <p:nvPr/>
        </p:nvGrpSpPr>
        <p:grpSpPr>
          <a:xfrm>
            <a:off x="4572000" y="3692775"/>
            <a:ext cx="2286000" cy="571500"/>
            <a:chOff x="190500" y="2476500"/>
            <a:chExt cx="2286000" cy="571500"/>
          </a:xfrm>
        </p:grpSpPr>
        <p:sp>
          <p:nvSpPr>
            <p:cNvPr id="241" name="Google Shape;241;p23"/>
            <p:cNvSpPr/>
            <p:nvPr/>
          </p:nvSpPr>
          <p:spPr>
            <a:xfrm>
              <a:off x="190500" y="2476500"/>
              <a:ext cx="2286000" cy="571500"/>
            </a:xfrm>
            <a:prstGeom prst="roundRect">
              <a:avLst>
                <a:gd fmla="val 13333"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23"/>
            <p:cNvSpPr txBox="1"/>
            <p:nvPr/>
          </p:nvSpPr>
          <p:spPr>
            <a:xfrm>
              <a:off x="285750" y="2524125"/>
              <a:ext cx="2095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3B82F6"/>
                  </a:solidFill>
                  <a:latin typeface="Inter SemiBold"/>
                  <a:ea typeface="Inter SemiBold"/>
                  <a:cs typeface="Inter SemiBold"/>
                  <a:sym typeface="Inter SemiBold"/>
                </a:rPr>
                <a:t>AVG. RELATIVE IMPROVEMENT</a:t>
              </a:r>
              <a:endParaRPr b="0" sz="800">
                <a:solidFill>
                  <a:srgbClr val="3B82F6"/>
                </a:solidFill>
                <a:latin typeface="Inter SemiBold"/>
                <a:ea typeface="Inter SemiBold"/>
                <a:cs typeface="Inter SemiBold"/>
                <a:sym typeface="Inter SemiBold"/>
              </a:endParaRPr>
            </a:p>
          </p:txBody>
        </p:sp>
        <p:sp>
          <p:nvSpPr>
            <p:cNvPr id="243" name="Google Shape;243;p23"/>
            <p:cNvSpPr txBox="1"/>
            <p:nvPr/>
          </p:nvSpPr>
          <p:spPr>
            <a:xfrm>
              <a:off x="285750" y="2667000"/>
              <a:ext cx="20955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035">
                  <a:solidFill>
                    <a:srgbClr val="1D4ED8"/>
                  </a:solidFill>
                  <a:latin typeface="Inter ExtraBold"/>
                  <a:ea typeface="Inter ExtraBold"/>
                  <a:cs typeface="Inter ExtraBold"/>
                  <a:sym typeface="Inter ExtraBold"/>
                </a:rPr>
                <a:t>+</a:t>
              </a:r>
              <a:r>
                <a:rPr lang="en" sz="2035">
                  <a:solidFill>
                    <a:srgbClr val="1D4ED8"/>
                  </a:solidFill>
                  <a:latin typeface="Inter ExtraBold"/>
                  <a:ea typeface="Inter ExtraBold"/>
                  <a:cs typeface="Inter ExtraBold"/>
                  <a:sym typeface="Inter ExtraBold"/>
                </a:rPr>
                <a:t>11.52% </a:t>
              </a:r>
              <a:endParaRPr b="0" sz="2035">
                <a:solidFill>
                  <a:srgbClr val="1D4ED8"/>
                </a:solidFill>
                <a:latin typeface="Inter ExtraBold"/>
                <a:ea typeface="Inter ExtraBold"/>
                <a:cs typeface="Inter ExtraBold"/>
                <a:sym typeface="Inter ExtraBold"/>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4"/>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49" name="Google Shape;249;p24"/>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250" name="Google Shape;250;p24"/>
          <p:cNvSpPr/>
          <p:nvPr/>
        </p:nvSpPr>
        <p:spPr>
          <a:xfrm>
            <a:off x="571500" y="381000"/>
            <a:ext cx="28500" cy="381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24"/>
          <p:cNvSpPr txBox="1"/>
          <p:nvPr/>
        </p:nvSpPr>
        <p:spPr>
          <a:xfrm>
            <a:off x="762000" y="381000"/>
            <a:ext cx="666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Zero-Shot vs. Few-Shot Prompting</a:t>
            </a:r>
            <a:endParaRPr b="0" sz="2400">
              <a:solidFill>
                <a:srgbClr val="1A1A1A"/>
              </a:solidFill>
              <a:latin typeface="Inter ExtraBold"/>
              <a:ea typeface="Inter ExtraBold"/>
              <a:cs typeface="Inter ExtraBold"/>
              <a:sym typeface="Inter ExtraBold"/>
            </a:endParaRPr>
          </a:p>
        </p:txBody>
      </p:sp>
      <p:sp>
        <p:nvSpPr>
          <p:cNvPr id="252" name="Google Shape;252;p24"/>
          <p:cNvSpPr/>
          <p:nvPr/>
        </p:nvSpPr>
        <p:spPr>
          <a:xfrm>
            <a:off x="571500" y="1143000"/>
            <a:ext cx="36195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4"/>
          <p:cNvSpPr txBox="1"/>
          <p:nvPr/>
        </p:nvSpPr>
        <p:spPr>
          <a:xfrm>
            <a:off x="809625" y="1428750"/>
            <a:ext cx="3143400" cy="2667000"/>
          </a:xfrm>
          <a:prstGeom prst="rect">
            <a:avLst/>
          </a:prstGeom>
          <a:noFill/>
          <a:ln>
            <a:noFill/>
          </a:ln>
        </p:spPr>
        <p:txBody>
          <a:bodyPr anchorCtr="0" anchor="t" bIns="0" lIns="0" spcFirstLastPara="1" rIns="0" wrap="square" tIns="0">
            <a:noAutofit/>
          </a:bodyPr>
          <a:lstStyle/>
          <a:p>
            <a:pPr indent="-301625" lvl="0" marL="457200" rtl="0" algn="l">
              <a:spcBef>
                <a:spcPts val="0"/>
              </a:spcBef>
              <a:spcAft>
                <a:spcPts val="0"/>
              </a:spcAft>
              <a:buClr>
                <a:srgbClr val="4B5563"/>
              </a:buClr>
              <a:buSzPts val="1150"/>
              <a:buFont typeface="Inter"/>
              <a:buChar char="●"/>
            </a:pPr>
            <a:r>
              <a:rPr b="0" lang="en" sz="1150">
                <a:solidFill>
                  <a:srgbClr val="4B5563"/>
                </a:solidFill>
                <a:latin typeface="Inter"/>
                <a:ea typeface="Inter"/>
                <a:cs typeface="Inter"/>
                <a:sym typeface="Inter"/>
              </a:rPr>
              <a:t>ClarifyGPT works even with zero demonstrations</a:t>
            </a:r>
            <a:endParaRPr b="0" sz="1150">
              <a:solidFill>
                <a:srgbClr val="4B5563"/>
              </a:solidFill>
              <a:latin typeface="Inter"/>
              <a:ea typeface="Inter"/>
              <a:cs typeface="Inter"/>
              <a:sym typeface="Inter"/>
            </a:endParaRPr>
          </a:p>
          <a:p>
            <a:pPr indent="-301625" lvl="0" marL="457200" rtl="0" algn="l">
              <a:spcBef>
                <a:spcPts val="1400"/>
              </a:spcBef>
              <a:spcAft>
                <a:spcPts val="0"/>
              </a:spcAft>
              <a:buClr>
                <a:srgbClr val="4B5563"/>
              </a:buClr>
              <a:buSzPts val="1150"/>
              <a:buFont typeface="Inter"/>
              <a:buChar char="●"/>
            </a:pPr>
            <a:r>
              <a:rPr b="0" lang="en" sz="1150">
                <a:solidFill>
                  <a:srgbClr val="4B5563"/>
                </a:solidFill>
                <a:latin typeface="Inter"/>
                <a:ea typeface="Inter"/>
                <a:cs typeface="Inter"/>
                <a:sym typeface="Inter"/>
              </a:rPr>
              <a:t>Performance improves as examples increase</a:t>
            </a:r>
            <a:endParaRPr b="0" sz="1150">
              <a:solidFill>
                <a:srgbClr val="4B5563"/>
              </a:solidFill>
              <a:latin typeface="Inter"/>
              <a:ea typeface="Inter"/>
              <a:cs typeface="Inter"/>
              <a:sym typeface="Inter"/>
            </a:endParaRPr>
          </a:p>
          <a:p>
            <a:pPr indent="-301625" lvl="0" marL="457200" rtl="0" algn="l">
              <a:spcBef>
                <a:spcPts val="1400"/>
              </a:spcBef>
              <a:spcAft>
                <a:spcPts val="0"/>
              </a:spcAft>
              <a:buClr>
                <a:srgbClr val="4B5563"/>
              </a:buClr>
              <a:buSzPts val="1150"/>
              <a:buFont typeface="Inter"/>
              <a:buChar char="●"/>
            </a:pPr>
            <a:r>
              <a:rPr b="0" lang="en" sz="1150">
                <a:solidFill>
                  <a:srgbClr val="4B5563"/>
                </a:solidFill>
                <a:latin typeface="Inter"/>
                <a:ea typeface="Inter"/>
                <a:cs typeface="Inter"/>
                <a:sym typeface="Inter"/>
              </a:rPr>
              <a:t>Three-shot prompting gives strongest results</a:t>
            </a:r>
            <a:endParaRPr b="0" sz="1150">
              <a:solidFill>
                <a:srgbClr val="4B5563"/>
              </a:solidFill>
              <a:latin typeface="Inter"/>
              <a:ea typeface="Inter"/>
              <a:cs typeface="Inter"/>
              <a:sym typeface="Inter"/>
            </a:endParaRPr>
          </a:p>
          <a:p>
            <a:pPr indent="-301625" lvl="0" marL="457200" rtl="0" algn="l">
              <a:spcBef>
                <a:spcPts val="1400"/>
              </a:spcBef>
              <a:spcAft>
                <a:spcPts val="0"/>
              </a:spcAft>
              <a:buClr>
                <a:srgbClr val="4B5563"/>
              </a:buClr>
              <a:buSzPts val="1150"/>
              <a:buFont typeface="Inter"/>
              <a:buChar char="●"/>
            </a:pPr>
            <a:r>
              <a:rPr b="0" lang="en" sz="1150">
                <a:solidFill>
                  <a:srgbClr val="4B5563"/>
                </a:solidFill>
                <a:latin typeface="Inter"/>
                <a:ea typeface="Inter"/>
                <a:cs typeface="Inter"/>
                <a:sym typeface="Inter"/>
              </a:rPr>
              <a:t>One-shot prompting may balance performance and efficiency</a:t>
            </a:r>
            <a:endParaRPr b="0" sz="1150">
              <a:solidFill>
                <a:srgbClr val="4B5563"/>
              </a:solidFill>
              <a:latin typeface="Inter"/>
              <a:ea typeface="Inter"/>
              <a:cs typeface="Inter"/>
              <a:sym typeface="Inter"/>
            </a:endParaRPr>
          </a:p>
          <a:p>
            <a:pPr indent="-301625" lvl="0" marL="457200" rtl="0" algn="l">
              <a:spcBef>
                <a:spcPts val="1400"/>
              </a:spcBef>
              <a:spcAft>
                <a:spcPts val="1400"/>
              </a:spcAft>
              <a:buClr>
                <a:srgbClr val="4B5563"/>
              </a:buClr>
              <a:buSzPts val="1150"/>
              <a:buFont typeface="Inter"/>
              <a:buChar char="●"/>
            </a:pPr>
            <a:r>
              <a:rPr b="0" lang="en" sz="1150">
                <a:solidFill>
                  <a:srgbClr val="4B5563"/>
                </a:solidFill>
                <a:latin typeface="Inter"/>
                <a:ea typeface="Inter"/>
                <a:cs typeface="Inter"/>
                <a:sym typeface="Inter"/>
              </a:rPr>
              <a:t>Demonstrations help the LLM generalize clarification behavior</a:t>
            </a:r>
            <a:endParaRPr b="0" sz="1150">
              <a:solidFill>
                <a:srgbClr val="4B5563"/>
              </a:solidFill>
              <a:latin typeface="Inter"/>
              <a:ea typeface="Inter"/>
              <a:cs typeface="Inter"/>
              <a:sym typeface="Inter"/>
            </a:endParaRPr>
          </a:p>
        </p:txBody>
      </p:sp>
      <p:sp>
        <p:nvSpPr>
          <p:cNvPr id="254" name="Google Shape;254;p24"/>
          <p:cNvSpPr/>
          <p:nvPr/>
        </p:nvSpPr>
        <p:spPr>
          <a:xfrm>
            <a:off x="4429125" y="1143000"/>
            <a:ext cx="2619300" cy="3238500"/>
          </a:xfrm>
          <a:prstGeom prst="roundRect">
            <a:avLst>
              <a:gd fmla="val 436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24"/>
          <p:cNvSpPr/>
          <p:nvPr/>
        </p:nvSpPr>
        <p:spPr>
          <a:xfrm>
            <a:off x="4619625" y="1333500"/>
            <a:ext cx="2238300" cy="285900"/>
          </a:xfrm>
          <a:prstGeom prst="roundRect">
            <a:avLst>
              <a:gd fmla="val 2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24"/>
          <p:cNvSpPr txBox="1"/>
          <p:nvPr/>
        </p:nvSpPr>
        <p:spPr>
          <a:xfrm>
            <a:off x="4619625" y="1333500"/>
            <a:ext cx="22383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E40AF"/>
                </a:solidFill>
                <a:latin typeface="Inter"/>
                <a:ea typeface="Inter"/>
                <a:cs typeface="Inter"/>
                <a:sym typeface="Inter"/>
              </a:rPr>
              <a:t>PERFORMANCE TREND</a:t>
            </a:r>
            <a:endParaRPr b="1" sz="900">
              <a:solidFill>
                <a:srgbClr val="1E40AF"/>
              </a:solidFill>
              <a:latin typeface="Inter"/>
              <a:ea typeface="Inter"/>
              <a:cs typeface="Inter"/>
              <a:sym typeface="Inter"/>
            </a:endParaRPr>
          </a:p>
        </p:txBody>
      </p:sp>
      <p:pic>
        <p:nvPicPr>
          <p:cNvPr id="257" name="Google Shape;257;p24"/>
          <p:cNvPicPr preferRelativeResize="0"/>
          <p:nvPr/>
        </p:nvPicPr>
        <p:blipFill rotWithShape="1">
          <a:blip r:embed="rId4">
            <a:alphaModFix/>
          </a:blip>
          <a:srcRect b="0" l="0" r="0" t="0"/>
          <a:stretch/>
        </p:blipFill>
        <p:spPr>
          <a:xfrm>
            <a:off x="4843463" y="2652713"/>
            <a:ext cx="1886100" cy="1171500"/>
          </a:xfrm>
          <a:prstGeom prst="rect">
            <a:avLst/>
          </a:prstGeom>
          <a:noFill/>
          <a:ln>
            <a:noFill/>
          </a:ln>
        </p:spPr>
      </p:pic>
      <p:sp>
        <p:nvSpPr>
          <p:cNvPr id="258" name="Google Shape;258;p24"/>
          <p:cNvSpPr/>
          <p:nvPr/>
        </p:nvSpPr>
        <p:spPr>
          <a:xfrm>
            <a:off x="4810125" y="3762375"/>
            <a:ext cx="95400" cy="954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 name="Google Shape;259;p24"/>
          <p:cNvSpPr/>
          <p:nvPr/>
        </p:nvSpPr>
        <p:spPr>
          <a:xfrm>
            <a:off x="5429250" y="3381375"/>
            <a:ext cx="95400" cy="954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4"/>
          <p:cNvSpPr/>
          <p:nvPr/>
        </p:nvSpPr>
        <p:spPr>
          <a:xfrm>
            <a:off x="6048375" y="3095625"/>
            <a:ext cx="95400" cy="954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4"/>
          <p:cNvSpPr/>
          <p:nvPr/>
        </p:nvSpPr>
        <p:spPr>
          <a:xfrm>
            <a:off x="6667500" y="2619375"/>
            <a:ext cx="95400" cy="954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24"/>
          <p:cNvSpPr txBox="1"/>
          <p:nvPr/>
        </p:nvSpPr>
        <p:spPr>
          <a:xfrm>
            <a:off x="4619625" y="3952875"/>
            <a:ext cx="476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94A3B8"/>
                </a:solidFill>
                <a:latin typeface="Inter SemiBold"/>
                <a:ea typeface="Inter SemiBold"/>
                <a:cs typeface="Inter SemiBold"/>
                <a:sym typeface="Inter SemiBold"/>
              </a:rPr>
              <a:t>0-Shot</a:t>
            </a:r>
            <a:endParaRPr b="0" sz="1000">
              <a:solidFill>
                <a:srgbClr val="94A3B8"/>
              </a:solidFill>
              <a:latin typeface="Inter SemiBold"/>
              <a:ea typeface="Inter SemiBold"/>
              <a:cs typeface="Inter SemiBold"/>
              <a:sym typeface="Inter SemiBold"/>
            </a:endParaRPr>
          </a:p>
        </p:txBody>
      </p:sp>
      <p:sp>
        <p:nvSpPr>
          <p:cNvPr id="263" name="Google Shape;263;p24"/>
          <p:cNvSpPr txBox="1"/>
          <p:nvPr/>
        </p:nvSpPr>
        <p:spPr>
          <a:xfrm>
            <a:off x="5238750" y="3952875"/>
            <a:ext cx="476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94A3B8"/>
                </a:solidFill>
                <a:latin typeface="Inter SemiBold"/>
                <a:ea typeface="Inter SemiBold"/>
                <a:cs typeface="Inter SemiBold"/>
                <a:sym typeface="Inter SemiBold"/>
              </a:rPr>
              <a:t>1-Shot</a:t>
            </a:r>
            <a:endParaRPr b="0" sz="1000">
              <a:solidFill>
                <a:srgbClr val="94A3B8"/>
              </a:solidFill>
              <a:latin typeface="Inter SemiBold"/>
              <a:ea typeface="Inter SemiBold"/>
              <a:cs typeface="Inter SemiBold"/>
              <a:sym typeface="Inter SemiBold"/>
            </a:endParaRPr>
          </a:p>
        </p:txBody>
      </p:sp>
      <p:sp>
        <p:nvSpPr>
          <p:cNvPr id="264" name="Google Shape;264;p24"/>
          <p:cNvSpPr txBox="1"/>
          <p:nvPr/>
        </p:nvSpPr>
        <p:spPr>
          <a:xfrm>
            <a:off x="5857875" y="3952875"/>
            <a:ext cx="476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94A3B8"/>
                </a:solidFill>
                <a:latin typeface="Inter SemiBold"/>
                <a:ea typeface="Inter SemiBold"/>
                <a:cs typeface="Inter SemiBold"/>
                <a:sym typeface="Inter SemiBold"/>
              </a:rPr>
              <a:t>2-Shot</a:t>
            </a:r>
            <a:endParaRPr b="0" sz="1000">
              <a:solidFill>
                <a:srgbClr val="94A3B8"/>
              </a:solidFill>
              <a:latin typeface="Inter SemiBold"/>
              <a:ea typeface="Inter SemiBold"/>
              <a:cs typeface="Inter SemiBold"/>
              <a:sym typeface="Inter SemiBold"/>
            </a:endParaRPr>
          </a:p>
        </p:txBody>
      </p:sp>
      <p:sp>
        <p:nvSpPr>
          <p:cNvPr id="265" name="Google Shape;265;p24"/>
          <p:cNvSpPr txBox="1"/>
          <p:nvPr/>
        </p:nvSpPr>
        <p:spPr>
          <a:xfrm>
            <a:off x="6477000" y="3952875"/>
            <a:ext cx="476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94A3B8"/>
                </a:solidFill>
                <a:latin typeface="Inter SemiBold"/>
                <a:ea typeface="Inter SemiBold"/>
                <a:cs typeface="Inter SemiBold"/>
                <a:sym typeface="Inter SemiBold"/>
              </a:rPr>
              <a:t>3-Shot</a:t>
            </a:r>
            <a:endParaRPr b="0" sz="1000">
              <a:solidFill>
                <a:srgbClr val="94A3B8"/>
              </a:solidFill>
              <a:latin typeface="Inter SemiBold"/>
              <a:ea typeface="Inter SemiBold"/>
              <a:cs typeface="Inter SemiBold"/>
              <a:sym typeface="Inter SemiBold"/>
            </a:endParaRPr>
          </a:p>
        </p:txBody>
      </p:sp>
      <p:sp>
        <p:nvSpPr>
          <p:cNvPr id="266" name="Google Shape;266;p24"/>
          <p:cNvSpPr txBox="1"/>
          <p:nvPr/>
        </p:nvSpPr>
        <p:spPr>
          <a:xfrm>
            <a:off x="6334200" y="2167175"/>
            <a:ext cx="762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3B82F6"/>
                </a:solidFill>
                <a:latin typeface="Inter ExtraBold"/>
                <a:ea typeface="Inter ExtraBold"/>
                <a:cs typeface="Inter ExtraBold"/>
                <a:sym typeface="Inter ExtraBold"/>
              </a:rPr>
              <a:t>Peak</a:t>
            </a:r>
            <a:endParaRPr b="0" sz="1400">
              <a:solidFill>
                <a:srgbClr val="3B82F6"/>
              </a:solidFill>
              <a:latin typeface="Inter ExtraBold"/>
              <a:ea typeface="Inter ExtraBold"/>
              <a:cs typeface="Inter ExtraBold"/>
              <a:sym typeface="Inter ExtraBold"/>
            </a:endParaRPr>
          </a:p>
        </p:txBody>
      </p:sp>
      <p:sp>
        <p:nvSpPr>
          <p:cNvPr id="267" name="Google Shape;267;p24"/>
          <p:cNvSpPr txBox="1"/>
          <p:nvPr/>
        </p:nvSpPr>
        <p:spPr>
          <a:xfrm>
            <a:off x="4584675" y="3510725"/>
            <a:ext cx="5463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3B82F6"/>
                </a:solidFill>
                <a:latin typeface="Inter ExtraBold"/>
                <a:ea typeface="Inter ExtraBold"/>
                <a:cs typeface="Inter ExtraBold"/>
                <a:sym typeface="Inter ExtraBold"/>
              </a:rPr>
              <a:t>68.59%</a:t>
            </a:r>
            <a:endParaRPr b="0" sz="900">
              <a:solidFill>
                <a:srgbClr val="3B82F6"/>
              </a:solidFill>
              <a:latin typeface="Inter ExtraBold"/>
              <a:ea typeface="Inter ExtraBold"/>
              <a:cs typeface="Inter ExtraBold"/>
              <a:sym typeface="Inter ExtraBold"/>
            </a:endParaRPr>
          </a:p>
        </p:txBody>
      </p:sp>
      <p:sp>
        <p:nvSpPr>
          <p:cNvPr id="268" name="Google Shape;268;p24"/>
          <p:cNvSpPr txBox="1"/>
          <p:nvPr/>
        </p:nvSpPr>
        <p:spPr>
          <a:xfrm>
            <a:off x="5203800" y="3143225"/>
            <a:ext cx="5463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3B82F6"/>
                </a:solidFill>
                <a:latin typeface="Inter ExtraBold"/>
                <a:ea typeface="Inter ExtraBold"/>
                <a:cs typeface="Inter ExtraBold"/>
                <a:sym typeface="Inter ExtraBold"/>
              </a:rPr>
              <a:t>72.14</a:t>
            </a:r>
            <a:r>
              <a:rPr lang="en" sz="900">
                <a:solidFill>
                  <a:srgbClr val="3B82F6"/>
                </a:solidFill>
                <a:latin typeface="Inter ExtraBold"/>
                <a:ea typeface="Inter ExtraBold"/>
                <a:cs typeface="Inter ExtraBold"/>
                <a:sym typeface="Inter ExtraBold"/>
              </a:rPr>
              <a:t>%</a:t>
            </a:r>
            <a:endParaRPr b="0" sz="900">
              <a:solidFill>
                <a:srgbClr val="3B82F6"/>
              </a:solidFill>
              <a:latin typeface="Inter ExtraBold"/>
              <a:ea typeface="Inter ExtraBold"/>
              <a:cs typeface="Inter ExtraBold"/>
              <a:sym typeface="Inter ExtraBold"/>
            </a:endParaRPr>
          </a:p>
        </p:txBody>
      </p:sp>
      <p:sp>
        <p:nvSpPr>
          <p:cNvPr id="269" name="Google Shape;269;p24"/>
          <p:cNvSpPr txBox="1"/>
          <p:nvPr/>
        </p:nvSpPr>
        <p:spPr>
          <a:xfrm>
            <a:off x="5770850" y="2893014"/>
            <a:ext cx="5463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3B82F6"/>
                </a:solidFill>
                <a:latin typeface="Inter ExtraBold"/>
                <a:ea typeface="Inter ExtraBold"/>
                <a:cs typeface="Inter ExtraBold"/>
                <a:sym typeface="Inter ExtraBold"/>
              </a:rPr>
              <a:t>73.8</a:t>
            </a:r>
            <a:r>
              <a:rPr lang="en" sz="900">
                <a:solidFill>
                  <a:srgbClr val="3B82F6"/>
                </a:solidFill>
                <a:latin typeface="Inter ExtraBold"/>
                <a:ea typeface="Inter ExtraBold"/>
                <a:cs typeface="Inter ExtraBold"/>
                <a:sym typeface="Inter ExtraBold"/>
              </a:rPr>
              <a:t>%</a:t>
            </a:r>
            <a:endParaRPr b="0" sz="900">
              <a:solidFill>
                <a:srgbClr val="3B82F6"/>
              </a:solidFill>
              <a:latin typeface="Inter ExtraBold"/>
              <a:ea typeface="Inter ExtraBold"/>
              <a:cs typeface="Inter ExtraBold"/>
              <a:sym typeface="Inter ExtraBold"/>
            </a:endParaRPr>
          </a:p>
        </p:txBody>
      </p:sp>
      <p:sp>
        <p:nvSpPr>
          <p:cNvPr id="270" name="Google Shape;270;p24"/>
          <p:cNvSpPr txBox="1"/>
          <p:nvPr/>
        </p:nvSpPr>
        <p:spPr>
          <a:xfrm>
            <a:off x="6467513" y="2398225"/>
            <a:ext cx="5463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3B82F6"/>
                </a:solidFill>
                <a:latin typeface="Inter ExtraBold"/>
                <a:ea typeface="Inter ExtraBold"/>
                <a:cs typeface="Inter ExtraBold"/>
                <a:sym typeface="Inter ExtraBold"/>
              </a:rPr>
              <a:t>75.75%</a:t>
            </a:r>
            <a:endParaRPr b="0" sz="900">
              <a:solidFill>
                <a:srgbClr val="3B82F6"/>
              </a:solidFill>
              <a:latin typeface="Inter ExtraBold"/>
              <a:ea typeface="Inter ExtraBold"/>
              <a:cs typeface="Inter ExtraBold"/>
              <a:sym typeface="Inter ExtraBold"/>
            </a:endParaRPr>
          </a:p>
        </p:txBody>
      </p:sp>
      <p:sp>
        <p:nvSpPr>
          <p:cNvPr id="271" name="Google Shape;271;p24"/>
          <p:cNvSpPr txBox="1"/>
          <p:nvPr/>
        </p:nvSpPr>
        <p:spPr>
          <a:xfrm>
            <a:off x="5095950" y="1658325"/>
            <a:ext cx="12663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800">
                <a:solidFill>
                  <a:srgbClr val="3B82F6"/>
                </a:solidFill>
                <a:latin typeface="Inter ExtraBold"/>
                <a:ea typeface="Inter ExtraBold"/>
                <a:cs typeface="Inter ExtraBold"/>
                <a:sym typeface="Inter ExtraBold"/>
              </a:rPr>
              <a:t>Baseline: 68.02%</a:t>
            </a:r>
            <a:endParaRPr sz="800">
              <a:solidFill>
                <a:srgbClr val="3B82F6"/>
              </a:solidFill>
              <a:latin typeface="Inter ExtraBold"/>
              <a:ea typeface="Inter ExtraBold"/>
              <a:cs typeface="Inter ExtraBold"/>
              <a:sym typeface="Inter Extra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5"/>
          <p:cNvSpPr/>
          <p:nvPr/>
        </p:nvSpPr>
        <p:spPr>
          <a:xfrm>
            <a:off x="0" y="0"/>
            <a:ext cx="9144000" cy="51435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77" name="Google Shape;277;p25"/>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278" name="Google Shape;278;p25"/>
          <p:cNvSpPr/>
          <p:nvPr/>
        </p:nvSpPr>
        <p:spPr>
          <a:xfrm>
            <a:off x="571500" y="381000"/>
            <a:ext cx="28500" cy="3810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25"/>
          <p:cNvSpPr txBox="1"/>
          <p:nvPr/>
        </p:nvSpPr>
        <p:spPr>
          <a:xfrm>
            <a:off x="762000" y="381000"/>
            <a:ext cx="666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Critical Critique</a:t>
            </a:r>
            <a:endParaRPr b="0" sz="2400">
              <a:solidFill>
                <a:srgbClr val="1A1A1A"/>
              </a:solidFill>
              <a:latin typeface="Inter ExtraBold"/>
              <a:ea typeface="Inter ExtraBold"/>
              <a:cs typeface="Inter ExtraBold"/>
              <a:sym typeface="Inter ExtraBold"/>
            </a:endParaRPr>
          </a:p>
        </p:txBody>
      </p:sp>
      <p:grpSp>
        <p:nvGrpSpPr>
          <p:cNvPr id="280" name="Google Shape;280;p25"/>
          <p:cNvGrpSpPr/>
          <p:nvPr/>
        </p:nvGrpSpPr>
        <p:grpSpPr>
          <a:xfrm>
            <a:off x="571500" y="1143000"/>
            <a:ext cx="6381900" cy="3238500"/>
            <a:chOff x="571500" y="1143000"/>
            <a:chExt cx="6381900" cy="3238500"/>
          </a:xfrm>
        </p:grpSpPr>
        <p:sp>
          <p:nvSpPr>
            <p:cNvPr id="281" name="Google Shape;281;p25"/>
            <p:cNvSpPr/>
            <p:nvPr/>
          </p:nvSpPr>
          <p:spPr>
            <a:xfrm>
              <a:off x="571500" y="1143000"/>
              <a:ext cx="6381900" cy="3238500"/>
            </a:xfrm>
            <a:prstGeom prst="roundRect">
              <a:avLst>
                <a:gd fmla="val 3529" name="adj"/>
              </a:avLst>
            </a:prstGeom>
            <a:solidFill>
              <a:srgbClr val="FFFFFF"/>
            </a:solidFill>
            <a:ln cap="flat" cmpd="sng" w="9525">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25"/>
            <p:cNvSpPr txBox="1"/>
            <p:nvPr/>
          </p:nvSpPr>
          <p:spPr>
            <a:xfrm>
              <a:off x="857250" y="1463802"/>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EF4444"/>
                  </a:solidFill>
                  <a:latin typeface="Material Icons"/>
                  <a:ea typeface="Material Icons"/>
                  <a:cs typeface="Material Icons"/>
                  <a:sym typeface="Material Icons"/>
                </a:rPr>
                <a:t>warning</a:t>
              </a:r>
              <a:endParaRPr sz="2400">
                <a:solidFill>
                  <a:srgbClr val="EF4444"/>
                </a:solidFill>
                <a:latin typeface="Material Icons"/>
                <a:ea typeface="Material Icons"/>
                <a:cs typeface="Material Icons"/>
                <a:sym typeface="Material Icons"/>
              </a:endParaRPr>
            </a:p>
          </p:txBody>
        </p:sp>
        <p:sp>
          <p:nvSpPr>
            <p:cNvPr id="283" name="Google Shape;283;p25"/>
            <p:cNvSpPr txBox="1"/>
            <p:nvPr/>
          </p:nvSpPr>
          <p:spPr>
            <a:xfrm>
              <a:off x="1333500" y="1428750"/>
              <a:ext cx="2857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B91C1C"/>
                  </a:solidFill>
                  <a:latin typeface="Inter"/>
                  <a:ea typeface="Inter"/>
                  <a:cs typeface="Inter"/>
                  <a:sym typeface="Inter"/>
                </a:rPr>
                <a:t>Issues </a:t>
              </a:r>
              <a:r>
                <a:rPr b="1" lang="en" sz="1300">
                  <a:solidFill>
                    <a:srgbClr val="B91C1C"/>
                  </a:solidFill>
                  <a:latin typeface="Inter"/>
                  <a:ea typeface="Inter"/>
                  <a:cs typeface="Inter"/>
                  <a:sym typeface="Inter"/>
                </a:rPr>
                <a:t>&amp; Constraints</a:t>
              </a:r>
              <a:endParaRPr b="1" sz="1300">
                <a:solidFill>
                  <a:srgbClr val="B91C1C"/>
                </a:solidFill>
                <a:latin typeface="Inter"/>
                <a:ea typeface="Inter"/>
                <a:cs typeface="Inter"/>
                <a:sym typeface="Inter"/>
              </a:endParaRPr>
            </a:p>
          </p:txBody>
        </p:sp>
        <p:sp>
          <p:nvSpPr>
            <p:cNvPr id="284" name="Google Shape;284;p25"/>
            <p:cNvSpPr txBox="1"/>
            <p:nvPr/>
          </p:nvSpPr>
          <p:spPr>
            <a:xfrm>
              <a:off x="857250" y="1952625"/>
              <a:ext cx="5810400" cy="2190900"/>
            </a:xfrm>
            <a:prstGeom prst="rect">
              <a:avLst/>
            </a:prstGeom>
            <a:noFill/>
            <a:ln>
              <a:noFill/>
            </a:ln>
          </p:spPr>
          <p:txBody>
            <a:bodyPr anchorCtr="0" anchor="t" bIns="0" lIns="0" spcFirstLastPara="1" rIns="0" wrap="square" tIns="0">
              <a:noAutofit/>
            </a:bodyPr>
            <a:lstStyle/>
            <a:p>
              <a:pPr indent="-317500" lvl="0" marL="457200" rtl="0" algn="l">
                <a:spcBef>
                  <a:spcPts val="0"/>
                </a:spcBef>
                <a:spcAft>
                  <a:spcPts val="0"/>
                </a:spcAft>
                <a:buClr>
                  <a:srgbClr val="4B5563"/>
                </a:buClr>
                <a:buSzPts val="1400"/>
                <a:buChar char="●"/>
              </a:pPr>
              <a:r>
                <a:rPr b="0" lang="en" sz="1100">
                  <a:solidFill>
                    <a:srgbClr val="4B5563"/>
                  </a:solidFill>
                  <a:latin typeface="Inter"/>
                  <a:ea typeface="Inter"/>
                  <a:cs typeface="Inter"/>
                  <a:sym typeface="Inter"/>
                </a:rPr>
                <a:t>User simulation may be overly optimistic</a:t>
              </a:r>
              <a:endParaRPr b="0" sz="1100">
                <a:solidFill>
                  <a:srgbClr val="4B5563"/>
                </a:solidFill>
                <a:latin typeface="Inter"/>
                <a:ea typeface="Inter"/>
                <a:cs typeface="Inter"/>
                <a:sym typeface="Inter"/>
              </a:endParaRPr>
            </a:p>
            <a:p>
              <a:pPr indent="-317500" lvl="0" marL="457200" rtl="0" algn="l">
                <a:spcBef>
                  <a:spcPts val="1200"/>
                </a:spcBef>
                <a:spcAft>
                  <a:spcPts val="0"/>
                </a:spcAft>
                <a:buClr>
                  <a:srgbClr val="4B5563"/>
                </a:buClr>
                <a:buSzPts val="1400"/>
                <a:buChar char="●"/>
              </a:pPr>
              <a:r>
                <a:rPr b="0" lang="en" sz="1100">
                  <a:solidFill>
                    <a:srgbClr val="4B5563"/>
                  </a:solidFill>
                  <a:latin typeface="Inter"/>
                  <a:ea typeface="Inter"/>
                  <a:cs typeface="Inter"/>
                  <a:sym typeface="Inter"/>
                </a:rPr>
                <a:t>Simulated users receive ground-truth test cases</a:t>
              </a:r>
              <a:endParaRPr b="0" sz="1100">
                <a:solidFill>
                  <a:srgbClr val="4B5563"/>
                </a:solidFill>
                <a:latin typeface="Inter"/>
                <a:ea typeface="Inter"/>
                <a:cs typeface="Inter"/>
                <a:sym typeface="Inter"/>
              </a:endParaRPr>
            </a:p>
            <a:p>
              <a:pPr indent="-317500" lvl="0" marL="457200" rtl="0" algn="l">
                <a:spcBef>
                  <a:spcPts val="1200"/>
                </a:spcBef>
                <a:spcAft>
                  <a:spcPts val="0"/>
                </a:spcAft>
                <a:buClr>
                  <a:srgbClr val="4B5563"/>
                </a:buClr>
                <a:buSzPts val="1400"/>
                <a:buChar char="●"/>
              </a:pPr>
              <a:r>
                <a:rPr b="0" lang="en" sz="1100">
                  <a:solidFill>
                    <a:srgbClr val="4B5563"/>
                  </a:solidFill>
                  <a:latin typeface="Inter"/>
                  <a:ea typeface="Inter"/>
                  <a:cs typeface="Inter"/>
                  <a:sym typeface="Inter"/>
                </a:rPr>
                <a:t>Human study used only 10 participants</a:t>
              </a:r>
              <a:endParaRPr b="0" sz="1100">
                <a:solidFill>
                  <a:srgbClr val="4B5563"/>
                </a:solidFill>
                <a:latin typeface="Inter"/>
                <a:ea typeface="Inter"/>
                <a:cs typeface="Inter"/>
                <a:sym typeface="Inter"/>
              </a:endParaRPr>
            </a:p>
            <a:p>
              <a:pPr indent="-317500" lvl="0" marL="457200" rtl="0" algn="l">
                <a:spcBef>
                  <a:spcPts val="1200"/>
                </a:spcBef>
                <a:spcAft>
                  <a:spcPts val="0"/>
                </a:spcAft>
                <a:buClr>
                  <a:srgbClr val="4B5563"/>
                </a:buClr>
                <a:buSzPts val="1400"/>
                <a:buChar char="●"/>
              </a:pPr>
              <a:r>
                <a:rPr b="0" lang="en" sz="1100">
                  <a:solidFill>
                    <a:srgbClr val="4B5563"/>
                  </a:solidFill>
                  <a:latin typeface="Inter"/>
                  <a:ea typeface="Inter"/>
                  <a:cs typeface="Inter"/>
                  <a:sym typeface="Inter"/>
                </a:rPr>
                <a:t>Participants also saw unit tests to infer intent</a:t>
              </a:r>
              <a:endParaRPr b="0" sz="1100">
                <a:solidFill>
                  <a:srgbClr val="4B5563"/>
                </a:solidFill>
                <a:latin typeface="Inter"/>
                <a:ea typeface="Inter"/>
                <a:cs typeface="Inter"/>
                <a:sym typeface="Inter"/>
              </a:endParaRPr>
            </a:p>
            <a:p>
              <a:pPr indent="-317500" lvl="0" marL="457200" rtl="0" algn="l">
                <a:spcBef>
                  <a:spcPts val="1200"/>
                </a:spcBef>
                <a:spcAft>
                  <a:spcPts val="0"/>
                </a:spcAft>
                <a:buClr>
                  <a:srgbClr val="4B5563"/>
                </a:buClr>
                <a:buSzPts val="1400"/>
                <a:buChar char="●"/>
              </a:pPr>
              <a:r>
                <a:rPr b="0" lang="en" sz="1100">
                  <a:solidFill>
                    <a:srgbClr val="4B5563"/>
                  </a:solidFill>
                  <a:latin typeface="Inter"/>
                  <a:ea typeface="Inter"/>
                  <a:cs typeface="Inter"/>
                  <a:sym typeface="Inter"/>
                </a:rPr>
                <a:t>Prompt demonstrations may bias results</a:t>
              </a:r>
              <a:endParaRPr b="0" sz="1100">
                <a:solidFill>
                  <a:srgbClr val="4B5563"/>
                </a:solidFill>
                <a:latin typeface="Inter"/>
                <a:ea typeface="Inter"/>
                <a:cs typeface="Inter"/>
                <a:sym typeface="Inter"/>
              </a:endParaRPr>
            </a:p>
            <a:p>
              <a:pPr indent="-317500" lvl="0" marL="457200" rtl="0" algn="l">
                <a:spcBef>
                  <a:spcPts val="1200"/>
                </a:spcBef>
                <a:spcAft>
                  <a:spcPts val="1200"/>
                </a:spcAft>
                <a:buClr>
                  <a:srgbClr val="4B5563"/>
                </a:buClr>
                <a:buSzPts val="1400"/>
                <a:buChar char="●"/>
              </a:pPr>
              <a:r>
                <a:rPr b="0" lang="en" sz="1100">
                  <a:solidFill>
                    <a:srgbClr val="4B5563"/>
                  </a:solidFill>
                  <a:latin typeface="Inter"/>
                  <a:ea typeface="Inter"/>
                  <a:cs typeface="Inter"/>
                  <a:sym typeface="Inter"/>
                </a:rPr>
                <a:t>Behavioral agreement may miss subtle ambiguity</a:t>
              </a:r>
              <a:endParaRPr b="0" sz="1100">
                <a:solidFill>
                  <a:srgbClr val="4B5563"/>
                </a:solidFill>
                <a:latin typeface="Inter"/>
                <a:ea typeface="Inter"/>
                <a:cs typeface="Inter"/>
                <a:sym typeface="Inter"/>
              </a:endParaRPr>
            </a:p>
          </p:txBody>
        </p:sp>
      </p:grpSp>
      <p:pic>
        <p:nvPicPr>
          <p:cNvPr id="285" name="Google Shape;285;p25"/>
          <p:cNvPicPr preferRelativeResize="0"/>
          <p:nvPr/>
        </p:nvPicPr>
        <p:blipFill rotWithShape="1">
          <a:blip r:embed="rId4">
            <a:alphaModFix/>
          </a:blip>
          <a:srcRect b="0" l="0" r="0" t="0"/>
          <a:stretch/>
        </p:blipFill>
        <p:spPr>
          <a:xfrm>
            <a:off x="7239000" y="0"/>
            <a:ext cx="1905000"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6"/>
          <p:cNvSpPr/>
          <p:nvPr/>
        </p:nvSpPr>
        <p:spPr>
          <a:xfrm>
            <a:off x="0" y="0"/>
            <a:ext cx="9144000" cy="51435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26"/>
          <p:cNvSpPr/>
          <p:nvPr/>
        </p:nvSpPr>
        <p:spPr>
          <a:xfrm>
            <a:off x="571500" y="381000"/>
            <a:ext cx="28500" cy="3810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6"/>
          <p:cNvSpPr txBox="1"/>
          <p:nvPr/>
        </p:nvSpPr>
        <p:spPr>
          <a:xfrm>
            <a:off x="762000" y="381000"/>
            <a:ext cx="666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Limitations and Edge Cases</a:t>
            </a:r>
            <a:endParaRPr b="0" sz="2400">
              <a:solidFill>
                <a:srgbClr val="1A1A1A"/>
              </a:solidFill>
              <a:latin typeface="Inter ExtraBold"/>
              <a:ea typeface="Inter ExtraBold"/>
              <a:cs typeface="Inter ExtraBold"/>
              <a:sym typeface="Inter ExtraBold"/>
            </a:endParaRPr>
          </a:p>
        </p:txBody>
      </p:sp>
      <p:grpSp>
        <p:nvGrpSpPr>
          <p:cNvPr id="293" name="Google Shape;293;p26"/>
          <p:cNvGrpSpPr/>
          <p:nvPr/>
        </p:nvGrpSpPr>
        <p:grpSpPr>
          <a:xfrm>
            <a:off x="571500" y="1238250"/>
            <a:ext cx="1571700" cy="2286000"/>
            <a:chOff x="0" y="0"/>
            <a:chExt cx="1571700" cy="2286000"/>
          </a:xfrm>
        </p:grpSpPr>
        <p:sp>
          <p:nvSpPr>
            <p:cNvPr id="294" name="Google Shape;294;p26"/>
            <p:cNvSpPr/>
            <p:nvPr/>
          </p:nvSpPr>
          <p:spPr>
            <a:xfrm>
              <a:off x="0" y="0"/>
              <a:ext cx="1571700" cy="2286000"/>
            </a:xfrm>
            <a:prstGeom prst="roundRect">
              <a:avLst>
                <a:gd fmla="val 7272" name="adj"/>
              </a:avLst>
            </a:prstGeom>
            <a:solidFill>
              <a:srgbClr val="FFFFFF"/>
            </a:solidFill>
            <a:ln cap="flat" cmpd="sng" w="9525">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6"/>
            <p:cNvSpPr txBox="1"/>
            <p:nvPr/>
          </p:nvSpPr>
          <p:spPr>
            <a:xfrm>
              <a:off x="142875" y="219710"/>
              <a:ext cx="285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850">
                  <a:solidFill>
                    <a:srgbClr val="EF4444"/>
                  </a:solidFill>
                  <a:latin typeface="Material Icons"/>
                  <a:ea typeface="Material Icons"/>
                  <a:cs typeface="Material Icons"/>
                  <a:sym typeface="Material Icons"/>
                </a:rPr>
                <a:t>output</a:t>
              </a:r>
              <a:endParaRPr sz="1850">
                <a:solidFill>
                  <a:srgbClr val="EF4444"/>
                </a:solidFill>
                <a:latin typeface="Material Icons"/>
                <a:ea typeface="Material Icons"/>
                <a:cs typeface="Material Icons"/>
                <a:sym typeface="Material Icons"/>
              </a:endParaRPr>
            </a:p>
          </p:txBody>
        </p:sp>
        <p:sp>
          <p:nvSpPr>
            <p:cNvPr id="296" name="Google Shape;296;p26"/>
            <p:cNvSpPr txBox="1"/>
            <p:nvPr/>
          </p:nvSpPr>
          <p:spPr>
            <a:xfrm>
              <a:off x="142875" y="571500"/>
              <a:ext cx="1285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B91C1C"/>
                  </a:solidFill>
                  <a:latin typeface="Inter"/>
                  <a:ea typeface="Inter"/>
                  <a:cs typeface="Inter"/>
                  <a:sym typeface="Inter"/>
                </a:rPr>
                <a:t>No Return Values</a:t>
              </a:r>
              <a:endParaRPr b="1" sz="1000">
                <a:solidFill>
                  <a:srgbClr val="B91C1C"/>
                </a:solidFill>
                <a:latin typeface="Inter"/>
                <a:ea typeface="Inter"/>
                <a:cs typeface="Inter"/>
                <a:sym typeface="Inter"/>
              </a:endParaRPr>
            </a:p>
          </p:txBody>
        </p:sp>
        <p:sp>
          <p:nvSpPr>
            <p:cNvPr id="297" name="Google Shape;297;p26"/>
            <p:cNvSpPr txBox="1"/>
            <p:nvPr/>
          </p:nvSpPr>
          <p:spPr>
            <a:xfrm>
              <a:off x="142875" y="1000125"/>
              <a:ext cx="1285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B5563"/>
                  </a:solidFill>
                  <a:latin typeface="Inter"/>
                  <a:ea typeface="Inter"/>
                  <a:cs typeface="Inter"/>
                  <a:sym typeface="Inter"/>
                </a:rPr>
                <a:t>Struggles with functions like training loops or UI handlers that produce no output.</a:t>
              </a:r>
              <a:endParaRPr b="0" sz="1000">
                <a:solidFill>
                  <a:srgbClr val="4B5563"/>
                </a:solidFill>
                <a:latin typeface="Inter"/>
                <a:ea typeface="Inter"/>
                <a:cs typeface="Inter"/>
                <a:sym typeface="Inter"/>
              </a:endParaRPr>
            </a:p>
          </p:txBody>
        </p:sp>
      </p:grpSp>
      <p:grpSp>
        <p:nvGrpSpPr>
          <p:cNvPr id="298" name="Google Shape;298;p26"/>
          <p:cNvGrpSpPr/>
          <p:nvPr/>
        </p:nvGrpSpPr>
        <p:grpSpPr>
          <a:xfrm>
            <a:off x="2238375" y="1238250"/>
            <a:ext cx="1571700" cy="2286000"/>
            <a:chOff x="0" y="0"/>
            <a:chExt cx="1571700" cy="2286000"/>
          </a:xfrm>
        </p:grpSpPr>
        <p:sp>
          <p:nvSpPr>
            <p:cNvPr id="299" name="Google Shape;299;p26"/>
            <p:cNvSpPr/>
            <p:nvPr/>
          </p:nvSpPr>
          <p:spPr>
            <a:xfrm>
              <a:off x="0" y="0"/>
              <a:ext cx="1571700" cy="2286000"/>
            </a:xfrm>
            <a:prstGeom prst="roundRect">
              <a:avLst>
                <a:gd fmla="val 7272" name="adj"/>
              </a:avLst>
            </a:prstGeom>
            <a:solidFill>
              <a:srgbClr val="FFFFFF"/>
            </a:solidFill>
            <a:ln cap="flat" cmpd="sng" w="9525">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6"/>
            <p:cNvSpPr txBox="1"/>
            <p:nvPr/>
          </p:nvSpPr>
          <p:spPr>
            <a:xfrm>
              <a:off x="142875" y="219710"/>
              <a:ext cx="285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850">
                  <a:solidFill>
                    <a:srgbClr val="EF4444"/>
                  </a:solidFill>
                  <a:latin typeface="Material Icons"/>
                  <a:ea typeface="Material Icons"/>
                  <a:cs typeface="Material Icons"/>
                  <a:sym typeface="Material Icons"/>
                </a:rPr>
                <a:t>perm_media</a:t>
              </a:r>
              <a:endParaRPr sz="1850">
                <a:solidFill>
                  <a:srgbClr val="EF4444"/>
                </a:solidFill>
                <a:latin typeface="Material Icons"/>
                <a:ea typeface="Material Icons"/>
                <a:cs typeface="Material Icons"/>
                <a:sym typeface="Material Icons"/>
              </a:endParaRPr>
            </a:p>
          </p:txBody>
        </p:sp>
        <p:sp>
          <p:nvSpPr>
            <p:cNvPr id="301" name="Google Shape;301;p26"/>
            <p:cNvSpPr txBox="1"/>
            <p:nvPr/>
          </p:nvSpPr>
          <p:spPr>
            <a:xfrm>
              <a:off x="142875" y="571500"/>
              <a:ext cx="1285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B91C1C"/>
                  </a:solidFill>
                  <a:latin typeface="Inter"/>
                  <a:ea typeface="Inter"/>
                  <a:cs typeface="Inter"/>
                  <a:sym typeface="Inter"/>
                </a:rPr>
                <a:t>Complex Inputs</a:t>
              </a:r>
              <a:endParaRPr b="1" sz="1000">
                <a:solidFill>
                  <a:srgbClr val="B91C1C"/>
                </a:solidFill>
                <a:latin typeface="Inter"/>
                <a:ea typeface="Inter"/>
                <a:cs typeface="Inter"/>
                <a:sym typeface="Inter"/>
              </a:endParaRPr>
            </a:p>
          </p:txBody>
        </p:sp>
        <p:sp>
          <p:nvSpPr>
            <p:cNvPr id="302" name="Google Shape;302;p26"/>
            <p:cNvSpPr txBox="1"/>
            <p:nvPr/>
          </p:nvSpPr>
          <p:spPr>
            <a:xfrm>
              <a:off x="142875" y="1000125"/>
              <a:ext cx="1285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B5563"/>
                  </a:solidFill>
                  <a:latin typeface="Inter"/>
                  <a:ea typeface="Inter"/>
                  <a:cs typeface="Inter"/>
                  <a:sym typeface="Inter"/>
                </a:rPr>
                <a:t>Difficult to handle file, image, or data streaming inputs in the test suite.</a:t>
              </a:r>
              <a:endParaRPr b="0" sz="1000">
                <a:solidFill>
                  <a:srgbClr val="4B5563"/>
                </a:solidFill>
                <a:latin typeface="Inter"/>
                <a:ea typeface="Inter"/>
                <a:cs typeface="Inter"/>
                <a:sym typeface="Inter"/>
              </a:endParaRPr>
            </a:p>
          </p:txBody>
        </p:sp>
      </p:grpSp>
      <p:grpSp>
        <p:nvGrpSpPr>
          <p:cNvPr id="303" name="Google Shape;303;p26"/>
          <p:cNvGrpSpPr/>
          <p:nvPr/>
        </p:nvGrpSpPr>
        <p:grpSpPr>
          <a:xfrm>
            <a:off x="3905250" y="1238250"/>
            <a:ext cx="1571700" cy="2286000"/>
            <a:chOff x="0" y="0"/>
            <a:chExt cx="1571700" cy="2286000"/>
          </a:xfrm>
        </p:grpSpPr>
        <p:sp>
          <p:nvSpPr>
            <p:cNvPr id="304" name="Google Shape;304;p26"/>
            <p:cNvSpPr/>
            <p:nvPr/>
          </p:nvSpPr>
          <p:spPr>
            <a:xfrm>
              <a:off x="0" y="0"/>
              <a:ext cx="1571700" cy="2286000"/>
            </a:xfrm>
            <a:prstGeom prst="roundRect">
              <a:avLst>
                <a:gd fmla="val 7272" name="adj"/>
              </a:avLst>
            </a:prstGeom>
            <a:solidFill>
              <a:srgbClr val="FFFFFF"/>
            </a:solidFill>
            <a:ln cap="flat" cmpd="sng" w="9525">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26"/>
            <p:cNvSpPr txBox="1"/>
            <p:nvPr/>
          </p:nvSpPr>
          <p:spPr>
            <a:xfrm>
              <a:off x="142875" y="219710"/>
              <a:ext cx="285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850">
                  <a:solidFill>
                    <a:srgbClr val="EF4444"/>
                  </a:solidFill>
                  <a:latin typeface="Material Icons"/>
                  <a:ea typeface="Material Icons"/>
                  <a:cs typeface="Material Icons"/>
                  <a:sym typeface="Material Icons"/>
                </a:rPr>
                <a:t>settings_suggest</a:t>
              </a:r>
              <a:endParaRPr sz="1850">
                <a:solidFill>
                  <a:srgbClr val="EF4444"/>
                </a:solidFill>
                <a:latin typeface="Material Icons"/>
                <a:ea typeface="Material Icons"/>
                <a:cs typeface="Material Icons"/>
                <a:sym typeface="Material Icons"/>
              </a:endParaRPr>
            </a:p>
          </p:txBody>
        </p:sp>
        <p:sp>
          <p:nvSpPr>
            <p:cNvPr id="306" name="Google Shape;306;p26"/>
            <p:cNvSpPr txBox="1"/>
            <p:nvPr/>
          </p:nvSpPr>
          <p:spPr>
            <a:xfrm>
              <a:off x="142875" y="571500"/>
              <a:ext cx="1285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B91C1C"/>
                  </a:solidFill>
                  <a:latin typeface="Inter"/>
                  <a:ea typeface="Inter"/>
                  <a:cs typeface="Inter"/>
                  <a:sym typeface="Inter"/>
                </a:rPr>
                <a:t>Model Tuning</a:t>
              </a:r>
              <a:endParaRPr b="1" sz="1000">
                <a:solidFill>
                  <a:srgbClr val="B91C1C"/>
                </a:solidFill>
                <a:latin typeface="Inter"/>
                <a:ea typeface="Inter"/>
                <a:cs typeface="Inter"/>
                <a:sym typeface="Inter"/>
              </a:endParaRPr>
            </a:p>
          </p:txBody>
        </p:sp>
        <p:sp>
          <p:nvSpPr>
            <p:cNvPr id="307" name="Google Shape;307;p26"/>
            <p:cNvSpPr txBox="1"/>
            <p:nvPr/>
          </p:nvSpPr>
          <p:spPr>
            <a:xfrm>
              <a:off x="142875" y="1000125"/>
              <a:ext cx="1285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B5563"/>
                  </a:solidFill>
                  <a:latin typeface="Inter"/>
                  <a:ea typeface="Inter"/>
                  <a:cs typeface="Inter"/>
                  <a:sym typeface="Inter"/>
                </a:rPr>
                <a:t>Requires instruction-tuned LLMs to formulate valid natural language questions.</a:t>
              </a:r>
              <a:endParaRPr b="0" sz="1000">
                <a:solidFill>
                  <a:srgbClr val="4B5563"/>
                </a:solidFill>
                <a:latin typeface="Inter"/>
                <a:ea typeface="Inter"/>
                <a:cs typeface="Inter"/>
                <a:sym typeface="Inter"/>
              </a:endParaRPr>
            </a:p>
          </p:txBody>
        </p:sp>
      </p:grpSp>
      <p:grpSp>
        <p:nvGrpSpPr>
          <p:cNvPr id="308" name="Google Shape;308;p26"/>
          <p:cNvGrpSpPr/>
          <p:nvPr/>
        </p:nvGrpSpPr>
        <p:grpSpPr>
          <a:xfrm>
            <a:off x="5572125" y="1238250"/>
            <a:ext cx="1571700" cy="2286000"/>
            <a:chOff x="0" y="0"/>
            <a:chExt cx="1571700" cy="2286000"/>
          </a:xfrm>
        </p:grpSpPr>
        <p:sp>
          <p:nvSpPr>
            <p:cNvPr id="309" name="Google Shape;309;p26"/>
            <p:cNvSpPr/>
            <p:nvPr/>
          </p:nvSpPr>
          <p:spPr>
            <a:xfrm>
              <a:off x="0" y="0"/>
              <a:ext cx="1571700" cy="2286000"/>
            </a:xfrm>
            <a:prstGeom prst="roundRect">
              <a:avLst>
                <a:gd fmla="val 7272" name="adj"/>
              </a:avLst>
            </a:prstGeom>
            <a:solidFill>
              <a:srgbClr val="FFFFFF"/>
            </a:solidFill>
            <a:ln cap="flat" cmpd="sng" w="9525">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6"/>
            <p:cNvSpPr txBox="1"/>
            <p:nvPr/>
          </p:nvSpPr>
          <p:spPr>
            <a:xfrm>
              <a:off x="142875" y="219710"/>
              <a:ext cx="285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850">
                  <a:solidFill>
                    <a:srgbClr val="EF4444"/>
                  </a:solidFill>
                  <a:latin typeface="Material Icons"/>
                  <a:ea typeface="Material Icons"/>
                  <a:cs typeface="Material Icons"/>
                  <a:sym typeface="Material Icons"/>
                </a:rPr>
                <a:t>visibility_off</a:t>
              </a:r>
              <a:endParaRPr sz="1850">
                <a:solidFill>
                  <a:srgbClr val="EF4444"/>
                </a:solidFill>
                <a:latin typeface="Material Icons"/>
                <a:ea typeface="Material Icons"/>
                <a:cs typeface="Material Icons"/>
                <a:sym typeface="Material Icons"/>
              </a:endParaRPr>
            </a:p>
          </p:txBody>
        </p:sp>
        <p:sp>
          <p:nvSpPr>
            <p:cNvPr id="311" name="Google Shape;311;p26"/>
            <p:cNvSpPr txBox="1"/>
            <p:nvPr/>
          </p:nvSpPr>
          <p:spPr>
            <a:xfrm>
              <a:off x="142875" y="571500"/>
              <a:ext cx="1285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B91C1C"/>
                  </a:solidFill>
                  <a:latin typeface="Inter"/>
                  <a:ea typeface="Inter"/>
                  <a:cs typeface="Inter"/>
                  <a:sym typeface="Inter"/>
                </a:rPr>
                <a:t>Subtle Cases</a:t>
              </a:r>
              <a:endParaRPr b="1" sz="1000">
                <a:solidFill>
                  <a:srgbClr val="B91C1C"/>
                </a:solidFill>
                <a:latin typeface="Inter"/>
                <a:ea typeface="Inter"/>
                <a:cs typeface="Inter"/>
                <a:sym typeface="Inter"/>
              </a:endParaRPr>
            </a:p>
          </p:txBody>
        </p:sp>
        <p:sp>
          <p:nvSpPr>
            <p:cNvPr id="312" name="Google Shape;312;p26"/>
            <p:cNvSpPr txBox="1"/>
            <p:nvPr/>
          </p:nvSpPr>
          <p:spPr>
            <a:xfrm>
              <a:off x="142875" y="1000125"/>
              <a:ext cx="1285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B5563"/>
                  </a:solidFill>
                  <a:latin typeface="Inter"/>
                  <a:ea typeface="Inter"/>
                  <a:cs typeface="Inter"/>
                  <a:sym typeface="Inter"/>
                </a:rPr>
                <a:t>Binary ambiguity detection may miss subtle semantic mismatches.</a:t>
              </a:r>
              <a:endParaRPr b="0" sz="1000">
                <a:solidFill>
                  <a:srgbClr val="4B5563"/>
                </a:solidFill>
                <a:latin typeface="Inter"/>
                <a:ea typeface="Inter"/>
                <a:cs typeface="Inter"/>
                <a:sym typeface="Inter"/>
              </a:endParaRPr>
            </a:p>
          </p:txBody>
        </p:sp>
      </p:grpSp>
      <p:grpSp>
        <p:nvGrpSpPr>
          <p:cNvPr id="313" name="Google Shape;313;p26"/>
          <p:cNvGrpSpPr/>
          <p:nvPr/>
        </p:nvGrpSpPr>
        <p:grpSpPr>
          <a:xfrm>
            <a:off x="7239000" y="1238250"/>
            <a:ext cx="1571700" cy="2286000"/>
            <a:chOff x="0" y="0"/>
            <a:chExt cx="1571700" cy="2286000"/>
          </a:xfrm>
        </p:grpSpPr>
        <p:sp>
          <p:nvSpPr>
            <p:cNvPr id="314" name="Google Shape;314;p26"/>
            <p:cNvSpPr/>
            <p:nvPr/>
          </p:nvSpPr>
          <p:spPr>
            <a:xfrm>
              <a:off x="0" y="0"/>
              <a:ext cx="1571700" cy="2286000"/>
            </a:xfrm>
            <a:prstGeom prst="roundRect">
              <a:avLst>
                <a:gd fmla="val 7272" name="adj"/>
              </a:avLst>
            </a:prstGeom>
            <a:solidFill>
              <a:srgbClr val="FFFFFF"/>
            </a:solidFill>
            <a:ln cap="flat" cmpd="sng" w="9525">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6"/>
            <p:cNvSpPr txBox="1"/>
            <p:nvPr/>
          </p:nvSpPr>
          <p:spPr>
            <a:xfrm>
              <a:off x="142875" y="219710"/>
              <a:ext cx="285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850">
                  <a:solidFill>
                    <a:srgbClr val="EF4444"/>
                  </a:solidFill>
                  <a:latin typeface="Material Icons"/>
                  <a:ea typeface="Material Icons"/>
                  <a:cs typeface="Material Icons"/>
                  <a:sym typeface="Material Icons"/>
                </a:rPr>
                <a:t>payments</a:t>
              </a:r>
              <a:endParaRPr sz="1850">
                <a:solidFill>
                  <a:srgbClr val="EF4444"/>
                </a:solidFill>
                <a:latin typeface="Material Icons"/>
                <a:ea typeface="Material Icons"/>
                <a:cs typeface="Material Icons"/>
                <a:sym typeface="Material Icons"/>
              </a:endParaRPr>
            </a:p>
          </p:txBody>
        </p:sp>
        <p:sp>
          <p:nvSpPr>
            <p:cNvPr id="316" name="Google Shape;316;p26"/>
            <p:cNvSpPr txBox="1"/>
            <p:nvPr/>
          </p:nvSpPr>
          <p:spPr>
            <a:xfrm>
              <a:off x="142875" y="571500"/>
              <a:ext cx="1285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B91C1C"/>
                  </a:solidFill>
                  <a:latin typeface="Inter"/>
                  <a:ea typeface="Inter"/>
                  <a:cs typeface="Inter"/>
                  <a:sym typeface="Inter"/>
                </a:rPr>
                <a:t>Cost &amp; Latency</a:t>
              </a:r>
              <a:endParaRPr b="1" sz="1000">
                <a:solidFill>
                  <a:srgbClr val="B91C1C"/>
                </a:solidFill>
                <a:latin typeface="Inter"/>
                <a:ea typeface="Inter"/>
                <a:cs typeface="Inter"/>
                <a:sym typeface="Inter"/>
              </a:endParaRPr>
            </a:p>
          </p:txBody>
        </p:sp>
        <p:sp>
          <p:nvSpPr>
            <p:cNvPr id="317" name="Google Shape;317;p26"/>
            <p:cNvSpPr txBox="1"/>
            <p:nvPr/>
          </p:nvSpPr>
          <p:spPr>
            <a:xfrm>
              <a:off x="142875" y="1000125"/>
              <a:ext cx="1285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B5563"/>
                  </a:solidFill>
                  <a:latin typeface="Inter"/>
                  <a:ea typeface="Inter"/>
                  <a:cs typeface="Inter"/>
                  <a:sym typeface="Inter"/>
                </a:rPr>
                <a:t>Multiple LLM calls significantly increase per-query cost and time.</a:t>
              </a:r>
              <a:endParaRPr b="0" sz="1000">
                <a:solidFill>
                  <a:srgbClr val="4B5563"/>
                </a:solidFill>
                <a:latin typeface="Inter"/>
                <a:ea typeface="Inter"/>
                <a:cs typeface="Inter"/>
                <a:sym typeface="Inte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7"/>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23" name="Google Shape;323;p27"/>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324" name="Google Shape;324;p27"/>
          <p:cNvSpPr/>
          <p:nvPr/>
        </p:nvSpPr>
        <p:spPr>
          <a:xfrm>
            <a:off x="571500" y="381000"/>
            <a:ext cx="28500" cy="381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7"/>
          <p:cNvSpPr txBox="1"/>
          <p:nvPr/>
        </p:nvSpPr>
        <p:spPr>
          <a:xfrm>
            <a:off x="762000" y="381000"/>
            <a:ext cx="666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860">
                <a:solidFill>
                  <a:srgbClr val="1A1A1A"/>
                </a:solidFill>
                <a:latin typeface="Inter ExtraBold"/>
                <a:ea typeface="Inter ExtraBold"/>
                <a:cs typeface="Inter ExtraBold"/>
                <a:sym typeface="Inter ExtraBold"/>
              </a:rPr>
              <a:t>Why ClarifyGPT Matters </a:t>
            </a:r>
            <a:r>
              <a:rPr lang="en" sz="1860">
                <a:solidFill>
                  <a:srgbClr val="1A1A1A"/>
                </a:solidFill>
                <a:latin typeface="Inter ExtraBold"/>
                <a:ea typeface="Inter ExtraBold"/>
                <a:cs typeface="Inter ExtraBold"/>
                <a:sym typeface="Inter ExtraBold"/>
              </a:rPr>
              <a:t>Today</a:t>
            </a:r>
            <a:endParaRPr b="0" sz="1860">
              <a:solidFill>
                <a:srgbClr val="1A1A1A"/>
              </a:solidFill>
              <a:latin typeface="Inter ExtraBold"/>
              <a:ea typeface="Inter ExtraBold"/>
              <a:cs typeface="Inter ExtraBold"/>
              <a:sym typeface="Inter ExtraBold"/>
            </a:endParaRPr>
          </a:p>
        </p:txBody>
      </p:sp>
      <p:sp>
        <p:nvSpPr>
          <p:cNvPr id="326" name="Google Shape;326;p27"/>
          <p:cNvSpPr/>
          <p:nvPr/>
        </p:nvSpPr>
        <p:spPr>
          <a:xfrm>
            <a:off x="571500" y="1047750"/>
            <a:ext cx="3905400" cy="3429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27"/>
          <p:cNvSpPr txBox="1"/>
          <p:nvPr/>
        </p:nvSpPr>
        <p:spPr>
          <a:xfrm>
            <a:off x="857250" y="1333500"/>
            <a:ext cx="3333900" cy="2857500"/>
          </a:xfrm>
          <a:prstGeom prst="rect">
            <a:avLst/>
          </a:prstGeom>
          <a:noFill/>
          <a:ln>
            <a:noFill/>
          </a:ln>
        </p:spPr>
        <p:txBody>
          <a:bodyPr anchorCtr="0" anchor="t" bIns="0" lIns="0" spcFirstLastPara="1" rIns="0" wrap="square" tIns="0">
            <a:noAutofit/>
          </a:bodyPr>
          <a:lstStyle/>
          <a:p>
            <a:pPr indent="-301625" lvl="0" marL="457200" rtl="0" algn="l">
              <a:spcBef>
                <a:spcPts val="0"/>
              </a:spcBef>
              <a:spcAft>
                <a:spcPts val="0"/>
              </a:spcAft>
              <a:buClr>
                <a:srgbClr val="4B5563"/>
              </a:buClr>
              <a:buSzPts val="1150"/>
              <a:buFont typeface="Inter"/>
              <a:buChar char="●"/>
            </a:pPr>
            <a:r>
              <a:rPr lang="en" sz="1150">
                <a:solidFill>
                  <a:srgbClr val="4B5563"/>
                </a:solidFill>
                <a:latin typeface="Inter"/>
                <a:ea typeface="Inter"/>
                <a:cs typeface="Inter"/>
                <a:sym typeface="Inter"/>
              </a:rPr>
              <a:t>Published in 2023 and formally appeared at FSE 2024</a:t>
            </a:r>
            <a:endParaRPr sz="1150">
              <a:solidFill>
                <a:srgbClr val="4B5563"/>
              </a:solidFill>
              <a:latin typeface="Inter"/>
              <a:ea typeface="Inter"/>
              <a:cs typeface="Inter"/>
              <a:sym typeface="Inter"/>
            </a:endParaRPr>
          </a:p>
          <a:p>
            <a:pPr indent="-301625" lvl="0" marL="457200" rtl="0" algn="l">
              <a:spcBef>
                <a:spcPts val="1400"/>
              </a:spcBef>
              <a:spcAft>
                <a:spcPts val="0"/>
              </a:spcAft>
              <a:buClr>
                <a:srgbClr val="4B5563"/>
              </a:buClr>
              <a:buSzPts val="1150"/>
              <a:buFont typeface="Inter"/>
              <a:buChar char="●"/>
            </a:pPr>
            <a:r>
              <a:rPr lang="en" sz="1150">
                <a:solidFill>
                  <a:srgbClr val="4B5563"/>
                </a:solidFill>
                <a:latin typeface="Inter"/>
                <a:ea typeface="Inter"/>
                <a:cs typeface="Inter"/>
                <a:sym typeface="Inter"/>
              </a:rPr>
              <a:t>Arrived as AI coding assistants became mainstream</a:t>
            </a:r>
            <a:endParaRPr sz="1150">
              <a:solidFill>
                <a:srgbClr val="4B5563"/>
              </a:solidFill>
              <a:latin typeface="Inter"/>
              <a:ea typeface="Inter"/>
              <a:cs typeface="Inter"/>
              <a:sym typeface="Inter"/>
            </a:endParaRPr>
          </a:p>
          <a:p>
            <a:pPr indent="-301625" lvl="0" marL="457200" rtl="0" algn="l">
              <a:spcBef>
                <a:spcPts val="1400"/>
              </a:spcBef>
              <a:spcAft>
                <a:spcPts val="0"/>
              </a:spcAft>
              <a:buClr>
                <a:srgbClr val="4B5563"/>
              </a:buClr>
              <a:buSzPts val="1150"/>
              <a:buFont typeface="Inter"/>
              <a:buChar char="●"/>
            </a:pPr>
            <a:r>
              <a:rPr lang="en" sz="1150">
                <a:solidFill>
                  <a:srgbClr val="4B5563"/>
                </a:solidFill>
                <a:latin typeface="Inter"/>
                <a:ea typeface="Inter"/>
                <a:cs typeface="Inter"/>
                <a:sym typeface="Inter"/>
              </a:rPr>
              <a:t>Helped shift attention from “generate code fast” to “understand intent first”</a:t>
            </a:r>
            <a:endParaRPr sz="1150">
              <a:solidFill>
                <a:srgbClr val="4B5563"/>
              </a:solidFill>
              <a:latin typeface="Inter"/>
              <a:ea typeface="Inter"/>
              <a:cs typeface="Inter"/>
              <a:sym typeface="Inter"/>
            </a:endParaRPr>
          </a:p>
          <a:p>
            <a:pPr indent="-301625" lvl="0" marL="457200" rtl="0" algn="l">
              <a:spcBef>
                <a:spcPts val="1400"/>
              </a:spcBef>
              <a:spcAft>
                <a:spcPts val="0"/>
              </a:spcAft>
              <a:buClr>
                <a:srgbClr val="4B5563"/>
              </a:buClr>
              <a:buSzPts val="1150"/>
              <a:buFont typeface="Inter"/>
              <a:buChar char="●"/>
            </a:pPr>
            <a:r>
              <a:rPr lang="en" sz="1150">
                <a:solidFill>
                  <a:srgbClr val="4B5563"/>
                </a:solidFill>
                <a:latin typeface="Inter"/>
                <a:ea typeface="Inter"/>
                <a:cs typeface="Inter"/>
                <a:sym typeface="Inter"/>
              </a:rPr>
              <a:t>Core idea: LLMs should ask before coding when requirements are unclear</a:t>
            </a:r>
            <a:endParaRPr sz="1150">
              <a:solidFill>
                <a:srgbClr val="4B5563"/>
              </a:solidFill>
              <a:latin typeface="Inter"/>
              <a:ea typeface="Inter"/>
              <a:cs typeface="Inter"/>
              <a:sym typeface="Inter"/>
            </a:endParaRPr>
          </a:p>
          <a:p>
            <a:pPr indent="-301625" lvl="0" marL="457200" rtl="0" algn="l">
              <a:spcBef>
                <a:spcPts val="1400"/>
              </a:spcBef>
              <a:spcAft>
                <a:spcPts val="1400"/>
              </a:spcAft>
              <a:buClr>
                <a:srgbClr val="4B5563"/>
              </a:buClr>
              <a:buSzPts val="1150"/>
              <a:buFont typeface="Inter"/>
              <a:buChar char="●"/>
            </a:pPr>
            <a:r>
              <a:rPr lang="en" sz="1150">
                <a:solidFill>
                  <a:srgbClr val="4B5563"/>
                </a:solidFill>
                <a:latin typeface="Inter"/>
                <a:ea typeface="Inter"/>
                <a:cs typeface="Inter"/>
                <a:sym typeface="Inter"/>
              </a:rPr>
              <a:t>This idea was </a:t>
            </a:r>
            <a:r>
              <a:rPr lang="en" sz="1150">
                <a:solidFill>
                  <a:srgbClr val="4B5563"/>
                </a:solidFill>
                <a:latin typeface="Inter"/>
                <a:ea typeface="Inter"/>
                <a:cs typeface="Inter"/>
                <a:sym typeface="Inter"/>
              </a:rPr>
              <a:t>standardized since in</a:t>
            </a:r>
            <a:r>
              <a:rPr lang="en" sz="1150">
                <a:solidFill>
                  <a:srgbClr val="4B5563"/>
                </a:solidFill>
                <a:latin typeface="Inter"/>
                <a:ea typeface="Inter"/>
                <a:cs typeface="Inter"/>
                <a:sym typeface="Inter"/>
              </a:rPr>
              <a:t> modern interactive coding tools and agentic coding workflows</a:t>
            </a:r>
            <a:endParaRPr sz="1150">
              <a:solidFill>
                <a:srgbClr val="4B5563"/>
              </a:solidFill>
              <a:latin typeface="Inter"/>
              <a:ea typeface="Inter"/>
              <a:cs typeface="Inter"/>
              <a:sym typeface="Inter"/>
            </a:endParaRPr>
          </a:p>
        </p:txBody>
      </p:sp>
      <p:sp>
        <p:nvSpPr>
          <p:cNvPr id="328" name="Google Shape;328;p27"/>
          <p:cNvSpPr/>
          <p:nvPr/>
        </p:nvSpPr>
        <p:spPr>
          <a:xfrm>
            <a:off x="4667250" y="1047750"/>
            <a:ext cx="2381400" cy="3429000"/>
          </a:xfrm>
          <a:prstGeom prst="roundRect">
            <a:avLst>
              <a:gd fmla="val 48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7"/>
          <p:cNvSpPr/>
          <p:nvPr/>
        </p:nvSpPr>
        <p:spPr>
          <a:xfrm>
            <a:off x="4762500" y="1238250"/>
            <a:ext cx="2190900" cy="285900"/>
          </a:xfrm>
          <a:prstGeom prst="roundRect">
            <a:avLst>
              <a:gd fmla="val 2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7"/>
          <p:cNvSpPr txBox="1"/>
          <p:nvPr/>
        </p:nvSpPr>
        <p:spPr>
          <a:xfrm>
            <a:off x="4762500" y="1238250"/>
            <a:ext cx="2190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1E40AF"/>
                </a:solidFill>
                <a:latin typeface="Inter"/>
                <a:ea typeface="Inter"/>
                <a:cs typeface="Inter"/>
                <a:sym typeface="Inter"/>
              </a:rPr>
              <a:t>EVOLUTION OF CODING AI</a:t>
            </a:r>
            <a:endParaRPr b="1" sz="1000">
              <a:solidFill>
                <a:srgbClr val="1E40AF"/>
              </a:solidFill>
              <a:latin typeface="Inter"/>
              <a:ea typeface="Inter"/>
              <a:cs typeface="Inter"/>
              <a:sym typeface="Inter"/>
            </a:endParaRPr>
          </a:p>
        </p:txBody>
      </p:sp>
      <p:pic>
        <p:nvPicPr>
          <p:cNvPr id="331" name="Google Shape;331;p27"/>
          <p:cNvPicPr preferRelativeResize="0"/>
          <p:nvPr/>
        </p:nvPicPr>
        <p:blipFill rotWithShape="1">
          <a:blip r:embed="rId4">
            <a:alphaModFix/>
          </a:blip>
          <a:srcRect b="0" l="0" r="0" t="0"/>
          <a:stretch/>
        </p:blipFill>
        <p:spPr>
          <a:xfrm>
            <a:off x="5086350" y="1905000"/>
            <a:ext cx="19200" cy="2095500"/>
          </a:xfrm>
          <a:prstGeom prst="rect">
            <a:avLst/>
          </a:prstGeom>
          <a:noFill/>
          <a:ln>
            <a:noFill/>
          </a:ln>
        </p:spPr>
      </p:pic>
      <p:sp>
        <p:nvSpPr>
          <p:cNvPr id="332" name="Google Shape;332;p27"/>
          <p:cNvSpPr/>
          <p:nvPr/>
        </p:nvSpPr>
        <p:spPr>
          <a:xfrm>
            <a:off x="5038725" y="1943100"/>
            <a:ext cx="114300" cy="1143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7"/>
          <p:cNvSpPr/>
          <p:nvPr/>
        </p:nvSpPr>
        <p:spPr>
          <a:xfrm>
            <a:off x="5038725" y="2800350"/>
            <a:ext cx="114300" cy="1143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7"/>
          <p:cNvSpPr/>
          <p:nvPr/>
        </p:nvSpPr>
        <p:spPr>
          <a:xfrm>
            <a:off x="5038725" y="3848100"/>
            <a:ext cx="114300" cy="114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7"/>
          <p:cNvSpPr txBox="1"/>
          <p:nvPr/>
        </p:nvSpPr>
        <p:spPr>
          <a:xfrm>
            <a:off x="5238750" y="1857375"/>
            <a:ext cx="38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85">
                <a:solidFill>
                  <a:srgbClr val="3B82F6"/>
                </a:solidFill>
                <a:latin typeface="Inter ExtraBold"/>
                <a:ea typeface="Inter ExtraBold"/>
                <a:cs typeface="Inter ExtraBold"/>
                <a:sym typeface="Inter ExtraBold"/>
              </a:rPr>
              <a:t>2023</a:t>
            </a:r>
            <a:endParaRPr b="0" sz="1085">
              <a:solidFill>
                <a:srgbClr val="3B82F6"/>
              </a:solidFill>
              <a:latin typeface="Inter ExtraBold"/>
              <a:ea typeface="Inter ExtraBold"/>
              <a:cs typeface="Inter ExtraBold"/>
              <a:sym typeface="Inter ExtraBold"/>
            </a:endParaRPr>
          </a:p>
        </p:txBody>
      </p:sp>
      <p:sp>
        <p:nvSpPr>
          <p:cNvPr id="336" name="Google Shape;336;p27"/>
          <p:cNvSpPr txBox="1"/>
          <p:nvPr/>
        </p:nvSpPr>
        <p:spPr>
          <a:xfrm>
            <a:off x="5667375" y="1857375"/>
            <a:ext cx="12384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64748B"/>
                </a:solidFill>
                <a:latin typeface="Inter"/>
                <a:ea typeface="Inter"/>
                <a:cs typeface="Inter"/>
                <a:sym typeface="Inter"/>
              </a:rPr>
              <a:t>Single-Pass Generation</a:t>
            </a:r>
            <a:br>
              <a:rPr lang="en" sz="900">
                <a:solidFill>
                  <a:srgbClr val="64748B"/>
                </a:solidFill>
                <a:latin typeface="Inter"/>
                <a:ea typeface="Inter"/>
                <a:cs typeface="Inter"/>
                <a:sym typeface="Inter"/>
              </a:rPr>
            </a:br>
            <a:r>
              <a:rPr lang="en" sz="900">
                <a:solidFill>
                  <a:srgbClr val="64748B"/>
                </a:solidFill>
                <a:latin typeface="Inter"/>
                <a:ea typeface="Inter"/>
                <a:cs typeface="Inter"/>
                <a:sym typeface="Inter"/>
              </a:rPr>
              <a:t>Focus on speed/syntax</a:t>
            </a:r>
            <a:endParaRPr sz="900">
              <a:solidFill>
                <a:srgbClr val="64748B"/>
              </a:solidFill>
              <a:latin typeface="Inter"/>
              <a:ea typeface="Inter"/>
              <a:cs typeface="Inter"/>
              <a:sym typeface="Inter"/>
            </a:endParaRPr>
          </a:p>
        </p:txBody>
      </p:sp>
      <p:sp>
        <p:nvSpPr>
          <p:cNvPr id="337" name="Google Shape;337;p27"/>
          <p:cNvSpPr txBox="1"/>
          <p:nvPr/>
        </p:nvSpPr>
        <p:spPr>
          <a:xfrm>
            <a:off x="5238750" y="2714625"/>
            <a:ext cx="38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85">
                <a:solidFill>
                  <a:srgbClr val="3B82F6"/>
                </a:solidFill>
                <a:latin typeface="Inter ExtraBold"/>
                <a:ea typeface="Inter ExtraBold"/>
                <a:cs typeface="Inter ExtraBold"/>
                <a:sym typeface="Inter ExtraBold"/>
              </a:rPr>
              <a:t>2024</a:t>
            </a:r>
            <a:endParaRPr b="0" sz="1085">
              <a:solidFill>
                <a:srgbClr val="3B82F6"/>
              </a:solidFill>
              <a:latin typeface="Inter ExtraBold"/>
              <a:ea typeface="Inter ExtraBold"/>
              <a:cs typeface="Inter ExtraBold"/>
              <a:sym typeface="Inter ExtraBold"/>
            </a:endParaRPr>
          </a:p>
        </p:txBody>
      </p:sp>
      <p:sp>
        <p:nvSpPr>
          <p:cNvPr id="338" name="Google Shape;338;p27"/>
          <p:cNvSpPr txBox="1"/>
          <p:nvPr/>
        </p:nvSpPr>
        <p:spPr>
          <a:xfrm>
            <a:off x="5667375" y="2714625"/>
            <a:ext cx="12384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64748B"/>
                </a:solidFill>
                <a:latin typeface="Inter"/>
                <a:ea typeface="Inter"/>
                <a:cs typeface="Inter"/>
                <a:sym typeface="Inter"/>
              </a:rPr>
              <a:t>ClarifyGPT (FSE)</a:t>
            </a:r>
            <a:br>
              <a:rPr lang="en" sz="900">
                <a:solidFill>
                  <a:srgbClr val="64748B"/>
                </a:solidFill>
                <a:latin typeface="Inter"/>
                <a:ea typeface="Inter"/>
                <a:cs typeface="Inter"/>
                <a:sym typeface="Inter"/>
              </a:rPr>
            </a:br>
            <a:r>
              <a:rPr lang="en" sz="900">
                <a:solidFill>
                  <a:srgbClr val="64748B"/>
                </a:solidFill>
                <a:latin typeface="Inter"/>
                <a:ea typeface="Inter"/>
                <a:cs typeface="Inter"/>
                <a:sym typeface="Inter"/>
              </a:rPr>
              <a:t>Shift to Intent Understanding</a:t>
            </a:r>
            <a:endParaRPr sz="900">
              <a:solidFill>
                <a:srgbClr val="64748B"/>
              </a:solidFill>
              <a:latin typeface="Inter"/>
              <a:ea typeface="Inter"/>
              <a:cs typeface="Inter"/>
              <a:sym typeface="Inter"/>
            </a:endParaRPr>
          </a:p>
        </p:txBody>
      </p:sp>
      <p:sp>
        <p:nvSpPr>
          <p:cNvPr id="339" name="Google Shape;339;p27"/>
          <p:cNvSpPr txBox="1"/>
          <p:nvPr/>
        </p:nvSpPr>
        <p:spPr>
          <a:xfrm>
            <a:off x="5238750" y="3762375"/>
            <a:ext cx="38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85">
                <a:solidFill>
                  <a:srgbClr val="10B981"/>
                </a:solidFill>
                <a:latin typeface="Inter ExtraBold"/>
                <a:ea typeface="Inter ExtraBold"/>
                <a:cs typeface="Inter ExtraBold"/>
                <a:sym typeface="Inter ExtraBold"/>
              </a:rPr>
              <a:t>2025</a:t>
            </a:r>
            <a:endParaRPr b="0" sz="1085">
              <a:solidFill>
                <a:srgbClr val="10B981"/>
              </a:solidFill>
              <a:latin typeface="Inter ExtraBold"/>
              <a:ea typeface="Inter ExtraBold"/>
              <a:cs typeface="Inter ExtraBold"/>
              <a:sym typeface="Inter ExtraBold"/>
            </a:endParaRPr>
          </a:p>
        </p:txBody>
      </p:sp>
      <p:sp>
        <p:nvSpPr>
          <p:cNvPr id="340" name="Google Shape;340;p27"/>
          <p:cNvSpPr txBox="1"/>
          <p:nvPr/>
        </p:nvSpPr>
        <p:spPr>
          <a:xfrm>
            <a:off x="5667375" y="3762375"/>
            <a:ext cx="12384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64748B"/>
                </a:solidFill>
                <a:latin typeface="Inter"/>
                <a:ea typeface="Inter"/>
                <a:cs typeface="Inter"/>
                <a:sym typeface="Inter"/>
              </a:rPr>
              <a:t>Interactive AI Agents</a:t>
            </a:r>
            <a:br>
              <a:rPr lang="en" sz="900">
                <a:solidFill>
                  <a:srgbClr val="64748B"/>
                </a:solidFill>
                <a:latin typeface="Inter"/>
                <a:ea typeface="Inter"/>
                <a:cs typeface="Inter"/>
                <a:sym typeface="Inter"/>
              </a:rPr>
            </a:br>
            <a:r>
              <a:rPr lang="en" sz="900">
                <a:solidFill>
                  <a:srgbClr val="64748B"/>
                </a:solidFill>
                <a:latin typeface="Inter"/>
                <a:ea typeface="Inter"/>
                <a:cs typeface="Inter"/>
                <a:sym typeface="Inter"/>
              </a:rPr>
              <a:t>Multi-turn Clarification</a:t>
            </a:r>
            <a:endParaRPr sz="900">
              <a:solidFill>
                <a:srgbClr val="64748B"/>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8"/>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6" name="Google Shape;346;p28"/>
          <p:cNvPicPr preferRelativeResize="0"/>
          <p:nvPr/>
        </p:nvPicPr>
        <p:blipFill rotWithShape="1">
          <a:blip r:embed="rId3">
            <a:alphaModFix/>
          </a:blip>
          <a:srcRect b="0" l="380000" r="-380000" t="0"/>
          <a:stretch/>
        </p:blipFill>
        <p:spPr>
          <a:xfrm>
            <a:off x="14478000" y="0"/>
            <a:ext cx="1905000" cy="5143500"/>
          </a:xfrm>
          <a:prstGeom prst="rect">
            <a:avLst/>
          </a:prstGeom>
          <a:noFill/>
          <a:ln>
            <a:noFill/>
          </a:ln>
        </p:spPr>
      </p:pic>
      <p:sp>
        <p:nvSpPr>
          <p:cNvPr id="347" name="Google Shape;347;p28"/>
          <p:cNvSpPr/>
          <p:nvPr/>
        </p:nvSpPr>
        <p:spPr>
          <a:xfrm>
            <a:off x="571500" y="381000"/>
            <a:ext cx="28500" cy="381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8"/>
          <p:cNvSpPr txBox="1"/>
          <p:nvPr/>
        </p:nvSpPr>
        <p:spPr>
          <a:xfrm>
            <a:off x="762000" y="381000"/>
            <a:ext cx="6667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1A1A1A"/>
                </a:solidFill>
                <a:latin typeface="Inter ExtraBold"/>
                <a:ea typeface="Inter ExtraBold"/>
                <a:cs typeface="Inter ExtraBold"/>
                <a:sym typeface="Inter ExtraBold"/>
              </a:rPr>
              <a:t>Key Takeaways &amp; Future Outlook</a:t>
            </a:r>
            <a:endParaRPr b="0" sz="2400">
              <a:solidFill>
                <a:srgbClr val="1A1A1A"/>
              </a:solidFill>
              <a:latin typeface="Inter ExtraBold"/>
              <a:ea typeface="Inter ExtraBold"/>
              <a:cs typeface="Inter ExtraBold"/>
              <a:sym typeface="Inter ExtraBold"/>
            </a:endParaRPr>
          </a:p>
        </p:txBody>
      </p:sp>
      <p:grpSp>
        <p:nvGrpSpPr>
          <p:cNvPr id="349" name="Google Shape;349;p28"/>
          <p:cNvGrpSpPr/>
          <p:nvPr/>
        </p:nvGrpSpPr>
        <p:grpSpPr>
          <a:xfrm>
            <a:off x="571500" y="1095375"/>
            <a:ext cx="3238500" cy="1571700"/>
            <a:chOff x="571500" y="1095375"/>
            <a:chExt cx="3238500" cy="1571700"/>
          </a:xfrm>
        </p:grpSpPr>
        <p:sp>
          <p:nvSpPr>
            <p:cNvPr id="350" name="Google Shape;350;p28"/>
            <p:cNvSpPr/>
            <p:nvPr/>
          </p:nvSpPr>
          <p:spPr>
            <a:xfrm>
              <a:off x="571500" y="1095375"/>
              <a:ext cx="3238500" cy="1571700"/>
            </a:xfrm>
            <a:prstGeom prst="roundRect">
              <a:avLst>
                <a:gd fmla="val 727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28"/>
            <p:cNvSpPr txBox="1"/>
            <p:nvPr/>
          </p:nvSpPr>
          <p:spPr>
            <a:xfrm>
              <a:off x="762000" y="1315085"/>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000">
                  <a:solidFill>
                    <a:srgbClr val="3B82F6"/>
                  </a:solidFill>
                  <a:latin typeface="Material Icons"/>
                  <a:ea typeface="Material Icons"/>
                  <a:cs typeface="Material Icons"/>
                  <a:sym typeface="Material Icons"/>
                </a:rPr>
                <a:t>psychology</a:t>
              </a:r>
              <a:endParaRPr sz="2000">
                <a:solidFill>
                  <a:srgbClr val="3B82F6"/>
                </a:solidFill>
                <a:latin typeface="Material Icons"/>
                <a:ea typeface="Material Icons"/>
                <a:cs typeface="Material Icons"/>
                <a:sym typeface="Material Icons"/>
              </a:endParaRPr>
            </a:p>
          </p:txBody>
        </p:sp>
        <p:sp>
          <p:nvSpPr>
            <p:cNvPr id="352" name="Google Shape;352;p28"/>
            <p:cNvSpPr txBox="1"/>
            <p:nvPr/>
          </p:nvSpPr>
          <p:spPr>
            <a:xfrm>
              <a:off x="1190625" y="1285875"/>
              <a:ext cx="2381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1E40AF"/>
                  </a:solidFill>
                  <a:latin typeface="Inter"/>
                  <a:ea typeface="Inter"/>
                  <a:cs typeface="Inter"/>
                  <a:sym typeface="Inter"/>
                </a:rPr>
                <a:t>INTENT OVER SYNTAX</a:t>
              </a:r>
              <a:endParaRPr b="1" sz="1000">
                <a:solidFill>
                  <a:srgbClr val="1E40AF"/>
                </a:solidFill>
                <a:latin typeface="Inter"/>
                <a:ea typeface="Inter"/>
                <a:cs typeface="Inter"/>
                <a:sym typeface="Inter"/>
              </a:endParaRPr>
            </a:p>
          </p:txBody>
        </p:sp>
        <p:sp>
          <p:nvSpPr>
            <p:cNvPr id="353" name="Google Shape;353;p28"/>
            <p:cNvSpPr txBox="1"/>
            <p:nvPr/>
          </p:nvSpPr>
          <p:spPr>
            <a:xfrm>
              <a:off x="762000" y="1762125"/>
              <a:ext cx="29307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B5563"/>
                  </a:solidFill>
                  <a:latin typeface="Inter"/>
                  <a:ea typeface="Inter"/>
                  <a:cs typeface="Inter"/>
                  <a:sym typeface="Inter"/>
                </a:rPr>
                <a:t>The primary barrier to AI coding isn't syntax, but the "intent gap" between human requirements and machine interpretation.</a:t>
              </a:r>
              <a:endParaRPr b="0" sz="1100">
                <a:solidFill>
                  <a:srgbClr val="4B5563"/>
                </a:solidFill>
                <a:latin typeface="Inter"/>
                <a:ea typeface="Inter"/>
                <a:cs typeface="Inter"/>
                <a:sym typeface="Inter"/>
              </a:endParaRPr>
            </a:p>
          </p:txBody>
        </p:sp>
      </p:grpSp>
      <p:grpSp>
        <p:nvGrpSpPr>
          <p:cNvPr id="354" name="Google Shape;354;p28"/>
          <p:cNvGrpSpPr/>
          <p:nvPr/>
        </p:nvGrpSpPr>
        <p:grpSpPr>
          <a:xfrm>
            <a:off x="4000500" y="1095375"/>
            <a:ext cx="3048000" cy="1571700"/>
            <a:chOff x="4000500" y="1095375"/>
            <a:chExt cx="3048000" cy="1571700"/>
          </a:xfrm>
        </p:grpSpPr>
        <p:sp>
          <p:nvSpPr>
            <p:cNvPr id="355" name="Google Shape;355;p28"/>
            <p:cNvSpPr/>
            <p:nvPr/>
          </p:nvSpPr>
          <p:spPr>
            <a:xfrm>
              <a:off x="4000500" y="1095375"/>
              <a:ext cx="3048000" cy="1571700"/>
            </a:xfrm>
            <a:prstGeom prst="roundRect">
              <a:avLst>
                <a:gd fmla="val 727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28"/>
            <p:cNvSpPr txBox="1"/>
            <p:nvPr/>
          </p:nvSpPr>
          <p:spPr>
            <a:xfrm>
              <a:off x="4191000" y="1315085"/>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000">
                  <a:solidFill>
                    <a:srgbClr val="3B82F6"/>
                  </a:solidFill>
                  <a:latin typeface="Material Icons"/>
                  <a:ea typeface="Material Icons"/>
                  <a:cs typeface="Material Icons"/>
                  <a:sym typeface="Material Icons"/>
                </a:rPr>
                <a:t>precision_manufacturing</a:t>
              </a:r>
              <a:endParaRPr sz="2000">
                <a:solidFill>
                  <a:srgbClr val="3B82F6"/>
                </a:solidFill>
                <a:latin typeface="Material Icons"/>
                <a:ea typeface="Material Icons"/>
                <a:cs typeface="Material Icons"/>
                <a:sym typeface="Material Icons"/>
              </a:endParaRPr>
            </a:p>
          </p:txBody>
        </p:sp>
        <p:sp>
          <p:nvSpPr>
            <p:cNvPr id="357" name="Google Shape;357;p28"/>
            <p:cNvSpPr txBox="1"/>
            <p:nvPr/>
          </p:nvSpPr>
          <p:spPr>
            <a:xfrm>
              <a:off x="4619625" y="1285875"/>
              <a:ext cx="2190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1E40AF"/>
                  </a:solidFill>
                  <a:latin typeface="Inter"/>
                  <a:ea typeface="Inter"/>
                  <a:cs typeface="Inter"/>
                  <a:sym typeface="Inter"/>
                </a:rPr>
                <a:t>SELECTIVE CLARIFICATION</a:t>
              </a:r>
              <a:endParaRPr b="1" sz="1000">
                <a:solidFill>
                  <a:srgbClr val="1E40AF"/>
                </a:solidFill>
                <a:latin typeface="Inter"/>
                <a:ea typeface="Inter"/>
                <a:cs typeface="Inter"/>
                <a:sym typeface="Inter"/>
              </a:endParaRPr>
            </a:p>
          </p:txBody>
        </p:sp>
        <p:sp>
          <p:nvSpPr>
            <p:cNvPr id="358" name="Google Shape;358;p28"/>
            <p:cNvSpPr txBox="1"/>
            <p:nvPr/>
          </p:nvSpPr>
          <p:spPr>
            <a:xfrm>
              <a:off x="4191000" y="1762125"/>
              <a:ext cx="2667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B5563"/>
                  </a:solidFill>
                  <a:latin typeface="Inter"/>
                  <a:ea typeface="Inter"/>
                  <a:cs typeface="Inter"/>
                  <a:sym typeface="Inter"/>
                </a:rPr>
                <a:t>Models achieve higher Pass@1 by asking clarifying questions only when ambiguity is detected, rather than blindly generating code.</a:t>
              </a:r>
              <a:endParaRPr b="0" sz="1100">
                <a:solidFill>
                  <a:srgbClr val="4B5563"/>
                </a:solidFill>
                <a:latin typeface="Inter"/>
                <a:ea typeface="Inter"/>
                <a:cs typeface="Inter"/>
                <a:sym typeface="Inter"/>
              </a:endParaRPr>
            </a:p>
          </p:txBody>
        </p:sp>
      </p:grpSp>
      <p:grpSp>
        <p:nvGrpSpPr>
          <p:cNvPr id="359" name="Google Shape;359;p28"/>
          <p:cNvGrpSpPr/>
          <p:nvPr/>
        </p:nvGrpSpPr>
        <p:grpSpPr>
          <a:xfrm>
            <a:off x="571500" y="2857500"/>
            <a:ext cx="3238500" cy="1571700"/>
            <a:chOff x="571500" y="2857500"/>
            <a:chExt cx="3238500" cy="1571700"/>
          </a:xfrm>
        </p:grpSpPr>
        <p:sp>
          <p:nvSpPr>
            <p:cNvPr id="360" name="Google Shape;360;p28"/>
            <p:cNvSpPr/>
            <p:nvPr/>
          </p:nvSpPr>
          <p:spPr>
            <a:xfrm>
              <a:off x="571500" y="2857500"/>
              <a:ext cx="3238500" cy="1571700"/>
            </a:xfrm>
            <a:prstGeom prst="roundRect">
              <a:avLst>
                <a:gd fmla="val 727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8"/>
            <p:cNvSpPr txBox="1"/>
            <p:nvPr/>
          </p:nvSpPr>
          <p:spPr>
            <a:xfrm>
              <a:off x="1190625" y="3048000"/>
              <a:ext cx="2381400" cy="381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800"/>
                </a:spcBef>
                <a:spcAft>
                  <a:spcPts val="0"/>
                </a:spcAft>
                <a:buClr>
                  <a:schemeClr val="dk1"/>
                </a:buClr>
                <a:buSzPts val="1100"/>
                <a:buFont typeface="Arial"/>
                <a:buNone/>
              </a:pPr>
              <a:r>
                <a:rPr b="1" lang="en" sz="1000">
                  <a:solidFill>
                    <a:srgbClr val="1E40AF"/>
                  </a:solidFill>
                  <a:latin typeface="Inter"/>
                  <a:ea typeface="Inter"/>
                  <a:cs typeface="Inter"/>
                  <a:sym typeface="Inter"/>
                </a:rPr>
                <a:t>AMBIGUITY THROUGH BEHAVIOR</a:t>
              </a:r>
              <a:endParaRPr b="1" sz="1000">
                <a:solidFill>
                  <a:srgbClr val="1E40AF"/>
                </a:solidFill>
                <a:latin typeface="Inter"/>
                <a:ea typeface="Inter"/>
                <a:cs typeface="Inter"/>
                <a:sym typeface="Inter"/>
              </a:endParaRPr>
            </a:p>
            <a:p>
              <a:pPr indent="0" lvl="0" marL="0" rtl="0" algn="l">
                <a:spcBef>
                  <a:spcPts val="400"/>
                </a:spcBef>
                <a:spcAft>
                  <a:spcPts val="0"/>
                </a:spcAft>
                <a:buNone/>
              </a:pPr>
              <a:r>
                <a:t/>
              </a:r>
              <a:endParaRPr sz="1000">
                <a:solidFill>
                  <a:srgbClr val="1E40AF"/>
                </a:solidFill>
                <a:latin typeface="Instrument Sans"/>
                <a:ea typeface="Instrument Sans"/>
                <a:cs typeface="Instrument Sans"/>
                <a:sym typeface="Instrument Sans"/>
              </a:endParaRPr>
            </a:p>
          </p:txBody>
        </p:sp>
        <p:sp>
          <p:nvSpPr>
            <p:cNvPr id="362" name="Google Shape;362;p28"/>
            <p:cNvSpPr txBox="1"/>
            <p:nvPr/>
          </p:nvSpPr>
          <p:spPr>
            <a:xfrm>
              <a:off x="762000" y="3524250"/>
              <a:ext cx="27111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rgbClr val="4B5563"/>
                  </a:solidFill>
                  <a:latin typeface="Inter"/>
                  <a:ea typeface="Inter"/>
                  <a:cs typeface="Inter"/>
                  <a:sym typeface="Inter"/>
                </a:rPr>
                <a:t>Different outputs from plausible solutions reveal that the same prompt can lead to multiple interpretations.</a:t>
              </a:r>
              <a:endParaRPr b="0" sz="1100">
                <a:solidFill>
                  <a:srgbClr val="4B5563"/>
                </a:solidFill>
                <a:latin typeface="Inter"/>
                <a:ea typeface="Inter"/>
                <a:cs typeface="Inter"/>
                <a:sym typeface="Inter"/>
              </a:endParaRPr>
            </a:p>
          </p:txBody>
        </p:sp>
      </p:grpSp>
      <p:grpSp>
        <p:nvGrpSpPr>
          <p:cNvPr id="363" name="Google Shape;363;p28"/>
          <p:cNvGrpSpPr/>
          <p:nvPr/>
        </p:nvGrpSpPr>
        <p:grpSpPr>
          <a:xfrm>
            <a:off x="4000500" y="2857500"/>
            <a:ext cx="3048000" cy="1571700"/>
            <a:chOff x="4000500" y="2857500"/>
            <a:chExt cx="3048000" cy="1571700"/>
          </a:xfrm>
        </p:grpSpPr>
        <p:sp>
          <p:nvSpPr>
            <p:cNvPr id="364" name="Google Shape;364;p28"/>
            <p:cNvSpPr/>
            <p:nvPr/>
          </p:nvSpPr>
          <p:spPr>
            <a:xfrm>
              <a:off x="4000500" y="2857500"/>
              <a:ext cx="3048000" cy="1571700"/>
            </a:xfrm>
            <a:prstGeom prst="roundRect">
              <a:avLst>
                <a:gd fmla="val 727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28"/>
            <p:cNvSpPr txBox="1"/>
            <p:nvPr/>
          </p:nvSpPr>
          <p:spPr>
            <a:xfrm>
              <a:off x="4619625" y="3048000"/>
              <a:ext cx="2190900" cy="381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800"/>
                </a:spcBef>
                <a:spcAft>
                  <a:spcPts val="0"/>
                </a:spcAft>
                <a:buClr>
                  <a:schemeClr val="dk1"/>
                </a:buClr>
                <a:buSzPts val="1100"/>
                <a:buFont typeface="Arial"/>
                <a:buNone/>
              </a:pPr>
              <a:r>
                <a:rPr b="1" lang="en" sz="1000">
                  <a:solidFill>
                    <a:srgbClr val="1E40AF"/>
                  </a:solidFill>
                  <a:latin typeface="Inter"/>
                  <a:ea typeface="Inter"/>
                  <a:cs typeface="Inter"/>
                  <a:sym typeface="Inter"/>
                </a:rPr>
                <a:t>UNDERSTANDING HAS A COST</a:t>
              </a:r>
              <a:endParaRPr b="1" sz="1000">
                <a:solidFill>
                  <a:srgbClr val="1E40AF"/>
                </a:solidFill>
                <a:latin typeface="Inter"/>
                <a:ea typeface="Inter"/>
                <a:cs typeface="Inter"/>
                <a:sym typeface="Inter"/>
              </a:endParaRPr>
            </a:p>
            <a:p>
              <a:pPr indent="0" lvl="0" marL="0" rtl="0" algn="l">
                <a:spcBef>
                  <a:spcPts val="400"/>
                </a:spcBef>
                <a:spcAft>
                  <a:spcPts val="0"/>
                </a:spcAft>
                <a:buNone/>
              </a:pPr>
              <a:r>
                <a:t/>
              </a:r>
              <a:endParaRPr b="1" sz="1000">
                <a:solidFill>
                  <a:srgbClr val="1E40AF"/>
                </a:solidFill>
                <a:latin typeface="Inter"/>
                <a:ea typeface="Inter"/>
                <a:cs typeface="Inter"/>
                <a:sym typeface="Inter"/>
              </a:endParaRPr>
            </a:p>
          </p:txBody>
        </p:sp>
        <p:sp>
          <p:nvSpPr>
            <p:cNvPr id="366" name="Google Shape;366;p28"/>
            <p:cNvSpPr txBox="1"/>
            <p:nvPr/>
          </p:nvSpPr>
          <p:spPr>
            <a:xfrm>
              <a:off x="4191000" y="3524250"/>
              <a:ext cx="2667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100">
                  <a:solidFill>
                    <a:srgbClr val="4B5563"/>
                  </a:solidFill>
                  <a:latin typeface="Inter"/>
                  <a:ea typeface="Inter"/>
                  <a:cs typeface="Inter"/>
                  <a:sym typeface="Inter"/>
                </a:rPr>
                <a:t>Better intent alignment comes with a trade-off: more model calls, more computation, more latency, and more user interaction.</a:t>
              </a:r>
              <a:endParaRPr sz="1100">
                <a:solidFill>
                  <a:srgbClr val="4B5563"/>
                </a:solidFill>
                <a:latin typeface="Inter"/>
                <a:ea typeface="Inter"/>
                <a:cs typeface="Inter"/>
                <a:sym typeface="Inter"/>
              </a:endParaRPr>
            </a:p>
            <a:p>
              <a:pPr indent="0" lvl="0" marL="0" rtl="0" algn="l">
                <a:spcBef>
                  <a:spcPts val="0"/>
                </a:spcBef>
                <a:spcAft>
                  <a:spcPts val="0"/>
                </a:spcAft>
                <a:buNone/>
              </a:pPr>
              <a:r>
                <a:t/>
              </a:r>
              <a:endParaRPr sz="1100">
                <a:solidFill>
                  <a:srgbClr val="94A3B8"/>
                </a:solidFill>
                <a:latin typeface="Inter"/>
                <a:ea typeface="Inter"/>
                <a:cs typeface="Inter"/>
                <a:sym typeface="Inter"/>
              </a:endParaRPr>
            </a:p>
          </p:txBody>
        </p:sp>
      </p:grpSp>
      <p:pic>
        <p:nvPicPr>
          <p:cNvPr id="367" name="Google Shape;367;p28"/>
          <p:cNvPicPr preferRelativeResize="0"/>
          <p:nvPr/>
        </p:nvPicPr>
        <p:blipFill rotWithShape="1">
          <a:blip r:embed="rId3">
            <a:alphaModFix/>
          </a:blip>
          <a:srcRect b="0" l="0" r="0" t="0"/>
          <a:stretch/>
        </p:blipFill>
        <p:spPr>
          <a:xfrm>
            <a:off x="7239000" y="0"/>
            <a:ext cx="1905000" cy="5143500"/>
          </a:xfrm>
          <a:prstGeom prst="rect">
            <a:avLst/>
          </a:prstGeom>
          <a:noFill/>
          <a:ln>
            <a:noFill/>
          </a:ln>
        </p:spPr>
      </p:pic>
      <p:sp>
        <p:nvSpPr>
          <p:cNvPr id="368" name="Google Shape;368;p28"/>
          <p:cNvSpPr txBox="1"/>
          <p:nvPr/>
        </p:nvSpPr>
        <p:spPr>
          <a:xfrm>
            <a:off x="4191000" y="3093551"/>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000">
                <a:solidFill>
                  <a:srgbClr val="3B82F6"/>
                </a:solidFill>
                <a:latin typeface="Material Icons"/>
                <a:ea typeface="Material Icons"/>
                <a:cs typeface="Material Icons"/>
                <a:sym typeface="Material Icons"/>
              </a:rPr>
              <a:t>auto_graph</a:t>
            </a:r>
            <a:endParaRPr sz="2000">
              <a:solidFill>
                <a:srgbClr val="3B82F6"/>
              </a:solidFill>
              <a:latin typeface="Material Icons"/>
              <a:ea typeface="Material Icons"/>
              <a:cs typeface="Material Icons"/>
              <a:sym typeface="Material Icons"/>
            </a:endParaRPr>
          </a:p>
        </p:txBody>
      </p:sp>
      <p:sp>
        <p:nvSpPr>
          <p:cNvPr id="369" name="Google Shape;369;p28"/>
          <p:cNvSpPr txBox="1"/>
          <p:nvPr/>
        </p:nvSpPr>
        <p:spPr>
          <a:xfrm>
            <a:off x="762000" y="3093560"/>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000">
                <a:solidFill>
                  <a:srgbClr val="3B82F6"/>
                </a:solidFill>
                <a:latin typeface="Material Icons"/>
                <a:ea typeface="Material Icons"/>
                <a:cs typeface="Material Icons"/>
                <a:sym typeface="Material Icons"/>
              </a:rPr>
              <a:t>terminal</a:t>
            </a:r>
            <a:endParaRPr sz="2000">
              <a:solidFill>
                <a:srgbClr val="3B82F6"/>
              </a:solidFill>
              <a:latin typeface="Material Icons"/>
              <a:ea typeface="Material Icons"/>
              <a:cs typeface="Material Icons"/>
              <a:sym typeface="Material Ico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